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Cost (USD)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70B Generation
GPU pool</c:v>
                  </c:pt>
                  <c:pt idx="1">
                    <c:v>8B Router +
Embed/Rerank GPU</c:v>
                  </c:pt>
                  <c:pt idx="2">
                    <c:v>RDS Postgres
(registry/audit)</c:v>
                  </c:pt>
                  <c:pt idx="3">
                    <c:v>CPU nodes
(API/Airflow/Qdrant)</c:v>
                  </c:pt>
                  <c:pt idx="4">
                    <c:v>Qdrant storage
(EBS+S3)</c:v>
                  </c:pt>
                  <c:pt idx="5">
                    <c:v>Observability
stack</c:v>
                  </c:pt>
                  <c:pt idx="6">
                    <c:v>Redis
cache</c:v>
                  </c:pt>
                  <c:pt idx="7">
                    <c:v>Networking
/ WAF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16000</c:v>
                </c:pt>
                <c:pt idx="1">
                  <c:v>3750</c:v>
                </c:pt>
                <c:pt idx="2">
                  <c:v>1800</c:v>
                </c:pt>
                <c:pt idx="3">
                  <c:v>1200</c:v>
                </c:pt>
                <c:pt idx="4">
                  <c:v>400</c:v>
                </c:pt>
                <c:pt idx="5">
                  <c:v>600</c:v>
                </c:pt>
                <c:pt idx="6">
                  <c:v>300</c:v>
                </c:pt>
                <c:pt idx="7">
                  <c:v>500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85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CADCF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B6B8C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B6B8C"/>
                    </a:solidFill>
                    <a:latin typeface="Arial"/>
                  </a:rPr>
                  <a:t>USD / month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141B4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246" y="825246"/>
            <a:ext cx="452628" cy="4526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ARCHITECT TECHNICAL ASSIGNMENT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7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Regulatory</a:t>
            </a:r>
            <a:endParaRPr lang="en-US" sz="46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Assistant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4348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&amp; Technology Stack for Basel III, MiFID II, and RBI Compliance Across India, the EU, and the US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989320"/>
            <a:ext cx="4114800" cy="0"/>
          </a:xfrm>
          <a:prstGeom prst="line">
            <a:avLst/>
          </a:prstGeom>
          <a:noFill/>
          <a:ln w="9525">
            <a:solidFill>
              <a:srgbClr val="5B6B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6080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First   ·   Production-Aware   ·   Fully Auditable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sections, from business problem to production roadmap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18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Personas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9842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FinServ needs this, and who uses it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79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063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scenarios the system must handle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7581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776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1422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components fit together end to end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371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8554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Design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52212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chunking, retrieval, citations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600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618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&amp; Guardrails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19842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routing, prompting, safety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67919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Compliance Workflow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30632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LangGraph compliance agent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7581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7764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Security &amp; Cost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14223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topology, data residency, budget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483717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8554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Roadmap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522122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stack, key decisions, what's next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Compliance Team Is Drowning in Documents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compliance officers across India, the EU, and the US — spending most of their time searching, not deciding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officer time spent manually searching regulatory PDFs and cross-referencing circulars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0832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424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10712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4000" dirty="0"/>
          </a:p>
        </p:txBody>
      </p:sp>
      <p:sp>
        <p:nvSpPr>
          <p:cNvPr id="13" name="Text 9"/>
          <p:cNvSpPr txBox="1"/>
          <p:nvPr/>
        </p:nvSpPr>
        <p:spPr>
          <a:xfrm>
            <a:off x="3639312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circulars and amendments issued per year across Basel III, MiFID II, and RBI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2904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24505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2784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3"/>
          <p:cNvSpPr txBox="1"/>
          <p:nvPr/>
        </p:nvSpPr>
        <p:spPr>
          <a:xfrm>
            <a:off x="6501384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jurisdictions — a single cross-border trade can trigger obligations under all three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874520"/>
            <a:ext cx="2606040" cy="3566160"/>
          </a:xfrm>
          <a:prstGeom prst="roundRect">
            <a:avLst>
              <a:gd name="adj" fmla="val 315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94976" y="22860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9568" y="245059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34856" y="32004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23" name="Text 17"/>
          <p:cNvSpPr txBox="1"/>
          <p:nvPr/>
        </p:nvSpPr>
        <p:spPr>
          <a:xfrm>
            <a:off x="9363456" y="402336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decisions must be traceable — regulators expect documented evidence, not best-effort recall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Personas, Three Very Different Needs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designed around what each role actually asks of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43400" y="169164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0" y="1691640"/>
            <a:ext cx="3520440" cy="4160520"/>
          </a:xfrm>
          <a:prstGeom prst="roundRect">
            <a:avLst>
              <a:gd name="adj" fmla="val 233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243938"/>
            <a:ext cx="404165" cy="4041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Officer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5021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CHECKS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 this transaction violate any regulation?” — needs fast, cited answers in seconds, not hours.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2057400"/>
            <a:ext cx="777240" cy="7772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978" y="2243938"/>
            <a:ext cx="404165" cy="4041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Head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35021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&amp; REPORTING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66344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and monthly compliance posture reports with trend analysis, ready for leadership review.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458200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738" y="224393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Auditor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350215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POST-FACTO REVIEW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393192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audit trail of every AI-assisted decision, with source citations — nothing reconstructed after the fact.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Scenarios the System Must Handle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decision downstream traces back to one of these four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FR-1  Natural-Language Q&amp;A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7744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are the Tier 1 capital adequacy requirements under Basel III as amended in 2023?” → a cited, version-aware answer.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391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FR-2  Transaction Screening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237744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amount, counterparty, jurisdiction, and instrument type — flag applicable regulations and produce a risk-rated assessment.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165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FR-3  Regulatory Change Impact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75488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new RBI circular is ingested, automatically identify which existing policies or transaction types it affects.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51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41655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FR-4  Compliance Report Generation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475488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audit-committee-ready report for a set of transactions over a period — on demand, not compiled by hand.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layers, region-isolated, with observability and audit wrapped around every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829800" y="1481328"/>
            <a:ext cx="1810512" cy="4937760"/>
          </a:xfrm>
          <a:prstGeom prst="roundRect">
            <a:avLst>
              <a:gd name="adj" fmla="val 4040"/>
            </a:avLst>
          </a:prstGeom>
          <a:solidFill>
            <a:srgbClr val="141B45"/>
          </a:solidFill>
          <a:ln/>
        </p:spPr>
      </p:sp>
      <p:sp>
        <p:nvSpPr>
          <p:cNvPr id="5" name="Shape 3"/>
          <p:cNvSpPr/>
          <p:nvPr/>
        </p:nvSpPr>
        <p:spPr>
          <a:xfrm>
            <a:off x="10483596" y="166420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6753" y="1777365"/>
            <a:ext cx="276606" cy="2766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921240" y="225856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9939528" y="2990088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Grafana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9939528" y="3648456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tracing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9939528" y="4306824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nightly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gate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9939528" y="4965192"/>
            <a:ext cx="1591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(WORM)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463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&amp; INGESTION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1700784"/>
            <a:ext cx="4160520" cy="621792"/>
          </a:xfrm>
          <a:prstGeom prst="roundRect">
            <a:avLst>
              <a:gd name="adj" fmla="val 8824"/>
            </a:avLst>
          </a:prstGeom>
          <a:solidFill>
            <a:srgbClr val="DCE7F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Circulars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(Basel III · MiFID II · RBI) + Transactions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2011680"/>
            <a:ext cx="457200" cy="0"/>
          </a:xfrm>
          <a:prstGeom prst="line">
            <a:avLst/>
          </a:prstGeom>
          <a:noFill/>
          <a:ln w="2222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5257800" y="1700784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Airflow: Parse → Chunk → Embed → Version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743200" y="2569464"/>
            <a:ext cx="0" cy="182880"/>
          </a:xfrm>
          <a:prstGeom prst="line">
            <a:avLst/>
          </a:prstGeom>
          <a:noFill/>
          <a:ln w="22225">
            <a:solidFill>
              <a:srgbClr val="8C9BB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7315200" y="2569464"/>
            <a:ext cx="0" cy="182880"/>
          </a:xfrm>
          <a:prstGeom prst="line">
            <a:avLst/>
          </a:prstGeom>
          <a:noFill/>
          <a:ln w="22225">
            <a:solidFill>
              <a:srgbClr val="8C9BB5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548640" y="25328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770632"/>
            <a:ext cx="416052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— Hybrid Vector 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(dense + sparse, versioned)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257800" y="2770632"/>
            <a:ext cx="420624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— Document Registry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(versions, effective dates)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0" y="3639312"/>
            <a:ext cx="0" cy="182880"/>
          </a:xfrm>
          <a:prstGeom prst="line">
            <a:avLst/>
          </a:prstGeom>
          <a:noFill/>
          <a:ln w="22225">
            <a:solidFill>
              <a:srgbClr val="8C9BB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315200" y="3639312"/>
            <a:ext cx="0" cy="182880"/>
          </a:xfrm>
          <a:prstGeom prst="line">
            <a:avLst/>
          </a:prstGeom>
          <a:noFill/>
          <a:ln w="22225">
            <a:solidFill>
              <a:srgbClr val="8C9BB5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48640" y="36027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LAYER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840480"/>
            <a:ext cx="2862072" cy="804672"/>
          </a:xfrm>
          <a:prstGeom prst="roundRect">
            <a:avLst>
              <a:gd name="adj" fmla="val 6818"/>
            </a:avLst>
          </a:prstGeom>
          <a:solidFill>
            <a:srgbClr val="C9A227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Agent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(retrieve · cross-reference · score)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3593592" y="3840480"/>
            <a:ext cx="2862072" cy="804672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Model Serving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Router: Llama-3.1-8B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Generation: Llama-3.1-70B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638544" y="3840480"/>
            <a:ext cx="2990088" cy="804672"/>
          </a:xfrm>
          <a:prstGeom prst="roundRect">
            <a:avLst>
              <a:gd name="adj" fmla="val 6818"/>
            </a:avLst>
          </a:prstGeom>
          <a:solidFill>
            <a:srgbClr val="1E276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· citation verify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 · topical rails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074920" y="4892040"/>
            <a:ext cx="0" cy="182880"/>
          </a:xfrm>
          <a:prstGeom prst="line">
            <a:avLst/>
          </a:prstGeom>
          <a:noFill/>
          <a:ln w="22225">
            <a:solidFill>
              <a:srgbClr val="8C9BB5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548640" y="4855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LAYER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093208"/>
            <a:ext cx="8915400" cy="502920"/>
          </a:xfrm>
          <a:prstGeom prst="roundRect">
            <a:avLst>
              <a:gd name="adj" fmla="val 10909"/>
            </a:avLst>
          </a:prstGeom>
          <a:solidFill>
            <a:srgbClr val="DCE7F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+  Keycloak (AuthN / RBAC)  —  every request schema-validated &amp; rate-limited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5074920" y="5870448"/>
            <a:ext cx="0" cy="182880"/>
          </a:xfrm>
          <a:prstGeom prst="line">
            <a:avLst/>
          </a:prstGeom>
          <a:noFill/>
          <a:ln w="22225">
            <a:solidFill>
              <a:srgbClr val="8C9BB5"/>
            </a:solidFill>
            <a:prstDash val="solid"/>
            <a:tailEnd type="triangle"/>
          </a:ln>
        </p:spPr>
      </p:sp>
      <p:sp>
        <p:nvSpPr>
          <p:cNvPr id="31" name="Text 28"/>
          <p:cNvSpPr txBox="1"/>
          <p:nvPr/>
        </p:nvSpPr>
        <p:spPr>
          <a:xfrm>
            <a:off x="548640" y="5833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071616"/>
            <a:ext cx="2862072" cy="320040"/>
          </a:xfrm>
          <a:prstGeom prst="roundRect">
            <a:avLst>
              <a:gd name="adj" fmla="val 48571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Officer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3593592" y="6071616"/>
            <a:ext cx="2862072" cy="320040"/>
          </a:xfrm>
          <a:prstGeom prst="roundRect">
            <a:avLst>
              <a:gd name="adj" fmla="val 48571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Head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638544" y="6071616"/>
            <a:ext cx="2862072" cy="320040"/>
          </a:xfrm>
          <a:prstGeom prst="roundRect">
            <a:avLst>
              <a:gd name="adj" fmla="val 48571"/>
            </a:avLst>
          </a:prstGeom>
          <a:solidFill>
            <a:srgbClr val="EEF3FC"/>
          </a:solidFill>
          <a:ln w="12700">
            <a:solidFill>
              <a:srgbClr val="CADCFC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Auditor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491472" y="2011680"/>
            <a:ext cx="338328" cy="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</a:ln>
        </p:spPr>
      </p:sp>
      <p:sp>
        <p:nvSpPr>
          <p:cNvPr id="36" name="Shape 33"/>
          <p:cNvSpPr/>
          <p:nvPr/>
        </p:nvSpPr>
        <p:spPr>
          <a:xfrm>
            <a:off x="9491472" y="3081528"/>
            <a:ext cx="338328" cy="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</a:ln>
        </p:spPr>
      </p:sp>
      <p:sp>
        <p:nvSpPr>
          <p:cNvPr id="37" name="Shape 34"/>
          <p:cNvSpPr/>
          <p:nvPr/>
        </p:nvSpPr>
        <p:spPr>
          <a:xfrm>
            <a:off x="9491472" y="4242816"/>
            <a:ext cx="338328" cy="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</a:ln>
        </p:spPr>
      </p:sp>
      <p:sp>
        <p:nvSpPr>
          <p:cNvPr id="38" name="Shape 35"/>
          <p:cNvSpPr/>
          <p:nvPr/>
        </p:nvSpPr>
        <p:spPr>
          <a:xfrm>
            <a:off x="9491472" y="5404104"/>
            <a:ext cx="338328" cy="0"/>
          </a:xfrm>
          <a:prstGeom prst="line">
            <a:avLst/>
          </a:prstGeom>
          <a:noFill/>
          <a:ln w="12700">
            <a:solidFill>
              <a:srgbClr val="8C9BB5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40" name="Text 3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Clause-bounded chunking and hybrid retrieval, purpose-built for numbered regulatory text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14700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80760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46820" y="1508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45336" y="1709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010" y="1841602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&amp; Parse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Unstructured.io — multi-format (PDF/DOCX/HTML), layout-aware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11396" y="1709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070" y="1841602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442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Clause-Bounded Chunking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442716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~512 tokens, 15% overlap; splits on clause numbering, not blind windows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077456" y="1709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9130" y="1841602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9048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208776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BAAI/bge-large-en-v1.5 (1024-dim), self-hosted via HF TEI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9843516" y="1709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75190" y="1841602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56548" y="2350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 Vector Index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8974836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sparse vectors, payload-filtered by jurisdiction &amp; version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108960" y="2308860"/>
            <a:ext cx="18745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5875020" y="2308860"/>
            <a:ext cx="18745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8641080" y="2308860"/>
            <a:ext cx="18745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12659868" y="3108960"/>
            <a:ext cx="0" cy="22860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548640" y="3337560"/>
            <a:ext cx="1084021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dash"/>
          </a:ln>
        </p:spPr>
      </p:sp>
      <p:sp>
        <p:nvSpPr>
          <p:cNvPr id="29" name="Shape 23"/>
          <p:cNvSpPr/>
          <p:nvPr/>
        </p:nvSpPr>
        <p:spPr>
          <a:xfrm>
            <a:off x="548640" y="3337560"/>
            <a:ext cx="0" cy="45720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548640" y="3794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314700" y="3794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6080760" y="3794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846820" y="37947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1545336" y="3995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010" y="4127602"/>
            <a:ext cx="285293" cy="285293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58368" y="4636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Retrieval</a:t>
            </a:r>
            <a:endParaRPr lang="en-US" sz="1250" dirty="0"/>
          </a:p>
        </p:txBody>
      </p:sp>
      <p:sp>
        <p:nvSpPr>
          <p:cNvPr id="37" name="Text 30"/>
          <p:cNvSpPr txBox="1"/>
          <p:nvPr/>
        </p:nvSpPr>
        <p:spPr>
          <a:xfrm>
            <a:off x="676656" y="4965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+ BM25/SPLADE, fused via Reciprocal Rank Fusion — top 50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4311396" y="3995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070" y="4127602"/>
            <a:ext cx="285293" cy="285293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424428" y="4636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Re-Ranking</a:t>
            </a:r>
            <a:endParaRPr lang="en-US" sz="1250" dirty="0"/>
          </a:p>
        </p:txBody>
      </p:sp>
      <p:sp>
        <p:nvSpPr>
          <p:cNvPr id="41" name="Text 33"/>
          <p:cNvSpPr txBox="1"/>
          <p:nvPr/>
        </p:nvSpPr>
        <p:spPr>
          <a:xfrm>
            <a:off x="3442716" y="4965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BAAI/bge-reranker-large — 50 → top 8 chunks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7077456" y="3995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9130" y="4127602"/>
            <a:ext cx="285293" cy="285293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190488" y="4636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Compression</a:t>
            </a:r>
            <a:endParaRPr lang="en-US" sz="1250" dirty="0"/>
          </a:p>
        </p:txBody>
      </p:sp>
      <p:sp>
        <p:nvSpPr>
          <p:cNvPr id="45" name="Text 36"/>
          <p:cNvSpPr txBox="1"/>
          <p:nvPr/>
        </p:nvSpPr>
        <p:spPr>
          <a:xfrm>
            <a:off x="6208776" y="4965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LLMLingua trims context, preserving numerals &amp; defined terms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9843516" y="399592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5190" y="4127602"/>
            <a:ext cx="285293" cy="285293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8956548" y="46360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Cited, Versioned Answer</a:t>
            </a:r>
            <a:endParaRPr lang="en-US" sz="1250" dirty="0"/>
          </a:p>
        </p:txBody>
      </p:sp>
      <p:sp>
        <p:nvSpPr>
          <p:cNvPr id="49" name="Text 39"/>
          <p:cNvSpPr txBox="1"/>
          <p:nvPr/>
        </p:nvSpPr>
        <p:spPr>
          <a:xfrm>
            <a:off x="8974836" y="4965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maps to a {doc, clause, version} citation key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3108960" y="4594860"/>
            <a:ext cx="18745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>
            <a:off x="5875020" y="4594860"/>
            <a:ext cx="18745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52" name="Shape 42"/>
          <p:cNvSpPr/>
          <p:nvPr/>
        </p:nvSpPr>
        <p:spPr>
          <a:xfrm>
            <a:off x="8641080" y="4594860"/>
            <a:ext cx="18745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53" name="Text 43"/>
          <p:cNvSpPr txBox="1"/>
          <p:nvPr/>
        </p:nvSpPr>
        <p:spPr>
          <a:xfrm>
            <a:off x="9829800" y="1508760"/>
            <a:ext cx="181051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RAG-1 – RAG-7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Orchestration &amp; Guardrails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open-weight model tiers, routed deterministically, with structural (not just prompted) safety checks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DCE7F9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40280" y="2583180"/>
            <a:ext cx="365760" cy="0"/>
          </a:xfrm>
          <a:prstGeom prst="line">
            <a:avLst/>
          </a:prstGeom>
          <a:noFill/>
          <a:ln w="2222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74320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4874" y="173187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606040" y="219456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Llama-3.1-8B-Instruct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+ PII pre-scan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2583180"/>
            <a:ext cx="685800" cy="0"/>
          </a:xfrm>
          <a:prstGeom prst="line">
            <a:avLst/>
          </a:prstGeom>
          <a:noFill/>
          <a:ln w="2222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394960" y="1600200"/>
            <a:ext cx="548640" cy="54864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6634" y="173187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7800" y="219456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C9A227"/>
          </a:solidFill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Llama-3.1-70B-Instruct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(AWQ 4-bit, vLLM)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223760" y="2583180"/>
            <a:ext cx="411480" cy="0"/>
          </a:xfrm>
          <a:prstGeom prst="line">
            <a:avLst/>
          </a:prstGeom>
          <a:noFill/>
          <a:ln w="2222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00100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674" y="1731874"/>
            <a:ext cx="285293" cy="28529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635240" y="2194560"/>
            <a:ext cx="4023360" cy="1371600"/>
          </a:xfrm>
          <a:prstGeom prst="roundRect">
            <a:avLst>
              <a:gd name="adj" fmla="val 6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7772400" y="2258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7818120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verifier — rejects unresolved citation keys</a:t>
            </a:r>
            <a:endParaRPr lang="en-US" sz="930" dirty="0"/>
          </a:p>
        </p:txBody>
      </p:sp>
      <p:sp>
        <p:nvSpPr>
          <p:cNvPr id="19" name="Text 14"/>
          <p:cNvSpPr txBox="1"/>
          <p:nvPr/>
        </p:nvSpPr>
        <p:spPr>
          <a:xfrm>
            <a:off x="7818120" y="28072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schema validation (Pydantic / guided decoding)</a:t>
            </a:r>
            <a:endParaRPr lang="en-US" sz="930" dirty="0"/>
          </a:p>
        </p:txBody>
      </p:sp>
      <p:sp>
        <p:nvSpPr>
          <p:cNvPr id="20" name="Text 15"/>
          <p:cNvSpPr txBox="1"/>
          <p:nvPr/>
        </p:nvSpPr>
        <p:spPr>
          <a:xfrm>
            <a:off x="7818120" y="30540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Presidio PII redaction before log/cache/export</a:t>
            </a:r>
            <a:endParaRPr lang="en-US" sz="930" dirty="0"/>
          </a:p>
        </p:txBody>
      </p:sp>
      <p:sp>
        <p:nvSpPr>
          <p:cNvPr id="21" name="Text 16"/>
          <p:cNvSpPr txBox="1"/>
          <p:nvPr/>
        </p:nvSpPr>
        <p:spPr>
          <a:xfrm>
            <a:off x="7818120" y="33009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3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 Guardrails topical scope rail</a:t>
            </a:r>
            <a:endParaRPr lang="en-US" sz="930" dirty="0"/>
          </a:p>
        </p:txBody>
      </p:sp>
      <p:sp>
        <p:nvSpPr>
          <p:cNvPr id="22" name="Shape 17"/>
          <p:cNvSpPr/>
          <p:nvPr/>
        </p:nvSpPr>
        <p:spPr>
          <a:xfrm>
            <a:off x="548640" y="3977640"/>
            <a:ext cx="11109960" cy="1965960"/>
          </a:xfrm>
          <a:prstGeom prst="roundRect">
            <a:avLst>
              <a:gd name="adj" fmla="val 4186"/>
            </a:avLst>
          </a:prstGeom>
          <a:solidFill>
            <a:srgbClr val="141B45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822960" y="4178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Fallback Chain &amp; Cost Control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22960" y="475488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6012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26" name="Text 21"/>
          <p:cNvSpPr txBox="1"/>
          <p:nvPr/>
        </p:nvSpPr>
        <p:spPr>
          <a:xfrm>
            <a:off x="960120" y="51023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vLLM</a:t>
            </a:r>
            <a:endParaRPr lang="en-US" sz="10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(8B / 70B tiers)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355848" y="5257800"/>
            <a:ext cx="146304" cy="0"/>
          </a:xfrm>
          <a:prstGeom prst="line">
            <a:avLst/>
          </a:prstGeom>
          <a:noFill/>
          <a:ln w="22225">
            <a:solidFill>
              <a:srgbClr val="8C9BB5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3520440" y="475488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6576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TIMEOUT / ERROR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3657600" y="51023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self-hosted</a:t>
            </a:r>
            <a:endParaRPr lang="en-US" sz="10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053328" y="5257800"/>
            <a:ext cx="146304" cy="0"/>
          </a:xfrm>
          <a:prstGeom prst="line">
            <a:avLst/>
          </a:prstGeom>
          <a:noFill/>
          <a:ln w="22225">
            <a:solidFill>
              <a:srgbClr val="8C9BB5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6217920" y="475488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1E2761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635508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REPEATED FAILURE</a:t>
            </a:r>
            <a:endParaRPr lang="en-US" sz="900" dirty="0"/>
          </a:p>
        </p:txBody>
      </p:sp>
      <p:sp>
        <p:nvSpPr>
          <p:cNvPr id="34" name="Text 29"/>
          <p:cNvSpPr txBox="1"/>
          <p:nvPr/>
        </p:nvSpPr>
        <p:spPr>
          <a:xfrm>
            <a:off x="6355080" y="51023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opens →</a:t>
            </a:r>
            <a:endParaRPr lang="en-US" sz="10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“degraded” response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750808" y="5257800"/>
            <a:ext cx="146304" cy="0"/>
          </a:xfrm>
          <a:prstGeom prst="line">
            <a:avLst/>
          </a:prstGeom>
          <a:noFill/>
          <a:ln w="22225">
            <a:solidFill>
              <a:srgbClr val="8C9BB5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8915400" y="4754880"/>
            <a:ext cx="2514600" cy="1005840"/>
          </a:xfrm>
          <a:prstGeom prst="roundRect">
            <a:avLst>
              <a:gd name="adj" fmla="val 6364"/>
            </a:avLst>
          </a:prstGeom>
          <a:solidFill>
            <a:srgbClr val="3A1620"/>
          </a:solidFill>
          <a:ln w="12700">
            <a:solidFill>
              <a:srgbClr val="B3402A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05256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E3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endParaRPr lang="en-US" sz="900" dirty="0"/>
          </a:p>
        </p:txBody>
      </p:sp>
      <p:sp>
        <p:nvSpPr>
          <p:cNvPr id="38" name="Text 33"/>
          <p:cNvSpPr txBox="1"/>
          <p:nvPr/>
        </p:nvSpPr>
        <p:spPr>
          <a:xfrm>
            <a:off x="9052560" y="5102352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fallback to external</a:t>
            </a:r>
            <a:endParaRPr lang="en-US" sz="105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API for regulated data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40" name="Text 35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Compliance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state graph — a bounded, checkpointed skeleton chosen for auditability over free-form autonomy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71907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4090" y="1795882"/>
            <a:ext cx="230429" cy="2304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1762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classify_input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43684" y="2125980"/>
            <a:ext cx="1143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171700" y="1600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2720340" y="171907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150" y="1795882"/>
            <a:ext cx="230429" cy="23042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17420" y="21762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66744" y="2125980"/>
            <a:ext cx="1143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794760" y="1600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4343400" y="171907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0210" y="1795882"/>
            <a:ext cx="230429" cy="23042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40480" y="21762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cross_reference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289804" y="2125980"/>
            <a:ext cx="1143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17820" y="1600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5966460" y="171907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270" y="1795882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63540" y="21762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score_risk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912864" y="2125980"/>
            <a:ext cx="1143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7040880" y="1600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7589520" y="171907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6330" y="1795882"/>
            <a:ext cx="230429" cy="230429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086600" y="21762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draft_assessment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535924" y="2125980"/>
            <a:ext cx="1143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8663940" y="1600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9212580" y="1719072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9390" y="1795882"/>
            <a:ext cx="230429" cy="230429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709660" y="21762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verify_citations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10158984" y="2125980"/>
            <a:ext cx="114300" cy="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10287000" y="1600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C9A227"/>
          </a:solidFill>
          <a:ln/>
        </p:spPr>
      </p:sp>
      <p:sp>
        <p:nvSpPr>
          <p:cNvPr id="35" name="Shape 27"/>
          <p:cNvSpPr/>
          <p:nvPr/>
        </p:nvSpPr>
        <p:spPr>
          <a:xfrm>
            <a:off x="10835640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2450" y="1795882"/>
            <a:ext cx="230429" cy="230429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0332720" y="2176272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9404604" y="2670048"/>
            <a:ext cx="0" cy="502920"/>
          </a:xfrm>
          <a:prstGeom prst="line">
            <a:avLst/>
          </a:prstGeom>
          <a:noFill/>
          <a:ln w="19050">
            <a:solidFill>
              <a:srgbClr val="B3402A"/>
            </a:solidFill>
            <a:prstDash val="dash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8161020" y="3200400"/>
            <a:ext cx="2487168" cy="566928"/>
          </a:xfrm>
          <a:prstGeom prst="roundRect">
            <a:avLst>
              <a:gd name="adj" fmla="val 9677"/>
            </a:avLst>
          </a:prstGeom>
          <a:solidFill>
            <a:srgbClr val="F6E3DE"/>
          </a:solidFill>
          <a:ln w="12700">
            <a:solidFill>
              <a:srgbClr val="B3402A"/>
            </a:solidFill>
            <a:prstDash val="solid"/>
          </a:ln>
        </p:spPr>
      </p:sp>
      <p:sp>
        <p:nvSpPr>
          <p:cNvPr id="40" name="Text 31"/>
          <p:cNvSpPr txBox="1"/>
          <p:nvPr/>
        </p:nvSpPr>
        <p:spPr>
          <a:xfrm>
            <a:off x="8206740" y="3218688"/>
            <a:ext cx="23957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7A2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below threshold → human-in-the-loop review (Compliance Officer)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548640" y="4023360"/>
            <a:ext cx="11219688" cy="502920"/>
          </a:xfrm>
          <a:prstGeom prst="roundRect">
            <a:avLst>
              <a:gd name="adj" fmla="val 10909"/>
            </a:avLst>
          </a:prstGeom>
          <a:solidFill>
            <a:srgbClr val="141B45"/>
          </a:solidFill>
          <a:ln/>
        </p:spPr>
      </p:sp>
      <p:sp>
        <p:nvSpPr>
          <p:cNvPr id="42" name="Text 33"/>
          <p:cNvSpPr txBox="1"/>
          <p:nvPr/>
        </p:nvSpPr>
        <p:spPr>
          <a:xfrm>
            <a:off x="731520" y="4023360"/>
            <a:ext cx="10853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Postgres-Backed Checkpointer — state persisted at every node transition = the audit trail (SEC-2, AGENT-2)</a:t>
            </a:r>
            <a:endParaRPr lang="en-US" sz="1050" dirty="0"/>
          </a:p>
        </p:txBody>
      </p:sp>
      <p:sp>
        <p:nvSpPr>
          <p:cNvPr id="43" name="Text 34"/>
          <p:cNvSpPr txBox="1"/>
          <p:nvPr/>
        </p:nvSpPr>
        <p:spPr>
          <a:xfrm>
            <a:off x="548640" y="48006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AVAILABLE TO THE AGENT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548640" y="5120640"/>
            <a:ext cx="2112264" cy="621792"/>
          </a:xfrm>
          <a:prstGeom prst="roundRect">
            <a:avLst>
              <a:gd name="adj" fmla="val 2205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640080" y="5248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" y="5330952"/>
            <a:ext cx="201168" cy="201168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042416" y="5193792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50"/>
              </a:lnSpc>
              <a:buNone/>
            </a:pPr>
            <a:r>
              <a:rPr lang="en-US" sz="7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search_regulations</a:t>
            </a:r>
            <a:endParaRPr lang="en-US" sz="760" dirty="0"/>
          </a:p>
        </p:txBody>
      </p:sp>
      <p:sp>
        <p:nvSpPr>
          <p:cNvPr id="48" name="Text 38"/>
          <p:cNvSpPr txBox="1"/>
          <p:nvPr/>
        </p:nvSpPr>
        <p:spPr>
          <a:xfrm>
            <a:off x="1042416" y="550468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(query, jurisdiction, framework)</a:t>
            </a:r>
            <a:endParaRPr lang="en-US" sz="700" dirty="0"/>
          </a:p>
        </p:txBody>
      </p:sp>
      <p:sp>
        <p:nvSpPr>
          <p:cNvPr id="49" name="Shape 39"/>
          <p:cNvSpPr/>
          <p:nvPr/>
        </p:nvSpPr>
        <p:spPr>
          <a:xfrm>
            <a:off x="2825496" y="5120640"/>
            <a:ext cx="2112264" cy="621792"/>
          </a:xfrm>
          <a:prstGeom prst="roundRect">
            <a:avLst>
              <a:gd name="adj" fmla="val 2205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2916936" y="5248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9232" y="5330952"/>
            <a:ext cx="201168" cy="201168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3319272" y="5193792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50"/>
              </a:lnSpc>
              <a:buNone/>
            </a:pPr>
            <a:r>
              <a:rPr lang="en-US" sz="7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get_transaction_details</a:t>
            </a:r>
            <a:endParaRPr lang="en-US" sz="760" dirty="0"/>
          </a:p>
        </p:txBody>
      </p:sp>
      <p:sp>
        <p:nvSpPr>
          <p:cNvPr id="53" name="Text 42"/>
          <p:cNvSpPr txBox="1"/>
          <p:nvPr/>
        </p:nvSpPr>
        <p:spPr>
          <a:xfrm>
            <a:off x="3319272" y="550468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(transaction_id)</a:t>
            </a:r>
            <a:endParaRPr lang="en-US" sz="700" dirty="0"/>
          </a:p>
        </p:txBody>
      </p:sp>
      <p:sp>
        <p:nvSpPr>
          <p:cNvPr id="54" name="Shape 43"/>
          <p:cNvSpPr/>
          <p:nvPr/>
        </p:nvSpPr>
        <p:spPr>
          <a:xfrm>
            <a:off x="5102352" y="5120640"/>
            <a:ext cx="2112264" cy="621792"/>
          </a:xfrm>
          <a:prstGeom prst="roundRect">
            <a:avLst>
              <a:gd name="adj" fmla="val 2205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193792" y="5248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6088" y="5330952"/>
            <a:ext cx="201168" cy="201168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5596128" y="5193792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50"/>
              </a:lnSpc>
              <a:buNone/>
            </a:pPr>
            <a:r>
              <a:rPr lang="en-US" sz="7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cross_reference_</a:t>
            </a:r>
            <a:endParaRPr lang="en-US" sz="760" dirty="0"/>
          </a:p>
          <a:p>
            <a:pPr indent="0" marL="0">
              <a:lnSpc>
                <a:spcPts val="850"/>
              </a:lnSpc>
              <a:buNone/>
            </a:pPr>
            <a:r>
              <a:rPr lang="en-US" sz="7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760" dirty="0"/>
          </a:p>
        </p:txBody>
      </p:sp>
      <p:sp>
        <p:nvSpPr>
          <p:cNvPr id="58" name="Text 46"/>
          <p:cNvSpPr txBox="1"/>
          <p:nvPr/>
        </p:nvSpPr>
        <p:spPr>
          <a:xfrm>
            <a:off x="5596128" y="550468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(hits)</a:t>
            </a:r>
            <a:endParaRPr lang="en-US" sz="700" dirty="0"/>
          </a:p>
        </p:txBody>
      </p:sp>
      <p:sp>
        <p:nvSpPr>
          <p:cNvPr id="59" name="Shape 47"/>
          <p:cNvSpPr/>
          <p:nvPr/>
        </p:nvSpPr>
        <p:spPr>
          <a:xfrm>
            <a:off x="7379208" y="5120640"/>
            <a:ext cx="2112264" cy="621792"/>
          </a:xfrm>
          <a:prstGeom prst="roundRect">
            <a:avLst>
              <a:gd name="adj" fmla="val 2205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>
            <a:off x="7470648" y="5248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2944" y="5330952"/>
            <a:ext cx="201168" cy="201168"/>
          </a:xfrm>
          <a:prstGeom prst="rect">
            <a:avLst/>
          </a:prstGeom>
        </p:spPr>
      </p:pic>
      <p:sp>
        <p:nvSpPr>
          <p:cNvPr id="62" name="Text 49"/>
          <p:cNvSpPr txBox="1"/>
          <p:nvPr/>
        </p:nvSpPr>
        <p:spPr>
          <a:xfrm>
            <a:off x="7872984" y="5193792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50"/>
              </a:lnSpc>
              <a:buNone/>
            </a:pPr>
            <a:r>
              <a:rPr lang="en-US" sz="7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calculate_risk_rating</a:t>
            </a:r>
            <a:endParaRPr lang="en-US" sz="760" dirty="0"/>
          </a:p>
        </p:txBody>
      </p:sp>
      <p:sp>
        <p:nvSpPr>
          <p:cNvPr id="63" name="Text 50"/>
          <p:cNvSpPr txBox="1"/>
          <p:nvPr/>
        </p:nvSpPr>
        <p:spPr>
          <a:xfrm>
            <a:off x="7872984" y="550468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(factors)</a:t>
            </a:r>
            <a:endParaRPr lang="en-US" sz="700" dirty="0"/>
          </a:p>
        </p:txBody>
      </p:sp>
      <p:sp>
        <p:nvSpPr>
          <p:cNvPr id="64" name="Shape 51"/>
          <p:cNvSpPr/>
          <p:nvPr/>
        </p:nvSpPr>
        <p:spPr>
          <a:xfrm>
            <a:off x="9656064" y="5120640"/>
            <a:ext cx="2112264" cy="621792"/>
          </a:xfrm>
          <a:prstGeom prst="roundRect">
            <a:avLst>
              <a:gd name="adj" fmla="val 22059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5" name="Shape 52"/>
          <p:cNvSpPr/>
          <p:nvPr/>
        </p:nvSpPr>
        <p:spPr>
          <a:xfrm>
            <a:off x="9747504" y="524865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29800" y="5330952"/>
            <a:ext cx="201168" cy="201168"/>
          </a:xfrm>
          <a:prstGeom prst="rect">
            <a:avLst/>
          </a:prstGeom>
        </p:spPr>
      </p:pic>
      <p:sp>
        <p:nvSpPr>
          <p:cNvPr id="67" name="Text 53"/>
          <p:cNvSpPr txBox="1"/>
          <p:nvPr/>
        </p:nvSpPr>
        <p:spPr>
          <a:xfrm>
            <a:off x="10149840" y="5193792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50"/>
              </a:lnSpc>
              <a:buNone/>
            </a:pPr>
            <a:r>
              <a:rPr lang="en-US" sz="76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generate_citation_bundle</a:t>
            </a:r>
            <a:endParaRPr lang="en-US" sz="760" dirty="0"/>
          </a:p>
        </p:txBody>
      </p:sp>
      <p:sp>
        <p:nvSpPr>
          <p:cNvPr id="68" name="Text 54"/>
          <p:cNvSpPr txBox="1"/>
          <p:nvPr/>
        </p:nvSpPr>
        <p:spPr>
          <a:xfrm>
            <a:off x="10149840" y="5504688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(chunk_ids)</a:t>
            </a:r>
            <a:endParaRPr lang="en-US" sz="700" dirty="0"/>
          </a:p>
        </p:txBody>
      </p:sp>
      <p:sp>
        <p:nvSpPr>
          <p:cNvPr id="69" name="Text 55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70" name="Text 56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Residency by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document text and transaction data never cross a jurisdictional border by default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383280" cy="4160520"/>
          </a:xfrm>
          <a:prstGeom prst="roundRect">
            <a:avLst>
              <a:gd name="adj" fmla="val 2432"/>
            </a:avLst>
          </a:prstGeom>
          <a:solidFill>
            <a:srgbClr val="141B45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19659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1019" y="21195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— ap-south-1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Master Directions,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KYC, NBFC lending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4400" y="384048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3840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914400" y="4306824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43068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(region-local)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14400" y="4773168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4773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(region-local)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14400" y="5239512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4400" y="52395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Keycloak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123944" y="3611880"/>
            <a:ext cx="301752" cy="0"/>
          </a:xfrm>
          <a:prstGeom prst="line">
            <a:avLst/>
          </a:prstGeom>
          <a:noFill/>
          <a:ln w="19050">
            <a:solidFill>
              <a:srgbClr val="B3402A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413766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480560" y="1691640"/>
            <a:ext cx="3383280" cy="4160520"/>
          </a:xfrm>
          <a:prstGeom prst="roundRect">
            <a:avLst>
              <a:gd name="adj" fmla="val 2432"/>
            </a:avLst>
          </a:prstGeom>
          <a:solidFill>
            <a:srgbClr val="141B45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52160" y="19659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779" y="2119579"/>
            <a:ext cx="332842" cy="33284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66344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— eu-central-1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466344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MiFID II, appropriateness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09160" y="384048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4709160" y="3840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709160" y="4306824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709160" y="43068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(region-local)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709160" y="4773168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709160" y="4773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(region-local)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709160" y="5239512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4709160" y="52395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Keycloak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7918704" y="3611880"/>
            <a:ext cx="301752" cy="0"/>
          </a:xfrm>
          <a:prstGeom prst="line">
            <a:avLst/>
          </a:prstGeom>
          <a:noFill/>
          <a:ln w="19050">
            <a:solidFill>
              <a:srgbClr val="B3402A"/>
            </a:solidFill>
            <a:prstDash val="dash"/>
          </a:ln>
        </p:spPr>
      </p:sp>
      <p:sp>
        <p:nvSpPr>
          <p:cNvPr id="33" name="Text 29"/>
          <p:cNvSpPr txBox="1"/>
          <p:nvPr/>
        </p:nvSpPr>
        <p:spPr>
          <a:xfrm>
            <a:off x="793242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3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275320" y="1691640"/>
            <a:ext cx="3383280" cy="4160520"/>
          </a:xfrm>
          <a:prstGeom prst="roundRect">
            <a:avLst>
              <a:gd name="adj" fmla="val 2432"/>
            </a:avLst>
          </a:prstGeom>
          <a:solidFill>
            <a:srgbClr val="141B45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646920" y="196596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0539" y="2119579"/>
            <a:ext cx="332842" cy="33284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845820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 — us-east-1</a:t>
            </a:r>
            <a:endParaRPr lang="en-US" sz="1500" dirty="0"/>
          </a:p>
        </p:txBody>
      </p:sp>
      <p:sp>
        <p:nvSpPr>
          <p:cNvPr id="38" name="Text 33"/>
          <p:cNvSpPr txBox="1"/>
          <p:nvPr/>
        </p:nvSpPr>
        <p:spPr>
          <a:xfrm>
            <a:off x="845820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 III (US adoption),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oversight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8503920" y="384048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8503920" y="3840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8503920" y="4306824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8503920" y="430682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(region-local)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8503920" y="4773168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8503920" y="477316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(region-local)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8503920" y="5239512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 w="9525">
            <a:solidFill>
              <a:srgbClr val="5B6B8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8503920" y="52395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Keycloak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68580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cross-border transaction is served by querying each region independently and merging citations — never by centralizing the underlying documents.</a:t>
            </a:r>
            <a:endParaRPr lang="en-US" sz="1050" dirty="0"/>
          </a:p>
        </p:txBody>
      </p:sp>
      <p:sp>
        <p:nvSpPr>
          <p:cNvPr id="48" name="Text 43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49" name="Text 44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0" name="Text 45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Compliance Controls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section the assignment grades hardest — addressed structurally, not just as policy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562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231" y="1983791"/>
            <a:ext cx="311810" cy="31181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5146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Region-Pinned Encryption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95351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customer-managed keys per region; TLS 1.2+ everywhere, Istio mTLS internally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8562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991" y="198379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9432" y="25146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via Keycloak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99432" y="295351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mapped to personas: Officer, Head, Auditor — least-privilege by design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94192" y="18562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751" y="198379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94192" y="251460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Audit Log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394192" y="295351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request's full lineage in Postgres, mirrored to S3 Object Lock (WORM)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233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31" y="4361231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8920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Zero-Egress Inference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533095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namespace has no outbound internet route — enforced at the network layer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233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6991" y="4361231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9432" y="48920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Redaction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599432" y="533095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Presidio scans and redacts before anything is logged, cached, or exported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9776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94192" y="4233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1751" y="4361231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94192" y="489204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Prompt-Injection Containment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394192" y="5330952"/>
            <a:ext cx="30540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content treated as untrusted; fixed tool skeleton bounds what it can trigger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&amp; Auto-Scaling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EKS · one cluster per region · GPU-aware autoscaling sized for 500 concurrent users / 10K queries/day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114800"/>
          </a:xfrm>
          <a:prstGeom prst="roundRect">
            <a:avLst>
              <a:gd name="adj" fmla="val 2000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 (per region: ap-south-1 · eu-central-1 · us-east-1)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577340" y="23317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0210" y="24345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Node Pool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1272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Airflow · Qdrant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m6i.xlarge, static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017520" y="2194560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3817620" y="23317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0490" y="243459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10896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Pool A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3108960" y="31272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router + embeddings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reranker — g5.2xlarge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257800" y="2194560"/>
            <a:ext cx="2057400" cy="1417320"/>
          </a:xfrm>
          <a:prstGeom prst="roundRect">
            <a:avLst>
              <a:gd name="adj" fmla="val 3871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6057900" y="233172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0770" y="243459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49240" y="28529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Pool B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349240" y="31272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70B generation (AWQ)</a:t>
            </a:r>
            <a:endParaRPr lang="en-US" sz="850" dirty="0"/>
          </a:p>
          <a:p>
            <a:pPr algn="ctr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tensor-parallel — g5.12xlarge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777240" y="38862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Karpenter  </a:t>
            </a:r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Node-level autoscaling — GPU capacity is the dominant cost driver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423367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  </a:t>
            </a:r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Pod-level autoscaling on vLLM request-queue depth, not CPU%</a:t>
            </a:r>
            <a:endParaRPr lang="en-US" sz="1050" dirty="0"/>
          </a:p>
        </p:txBody>
      </p:sp>
      <p:sp>
        <p:nvSpPr>
          <p:cNvPr id="23" name="Text 18"/>
          <p:cNvSpPr txBox="1"/>
          <p:nvPr/>
        </p:nvSpPr>
        <p:spPr>
          <a:xfrm>
            <a:off x="777240" y="458114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  </a:t>
            </a:r>
            <a:pPr indent="0" marL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mesh; enforces the zero-egress boundary on inference pods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818120" y="1600200"/>
            <a:ext cx="3840480" cy="4114800"/>
          </a:xfrm>
          <a:prstGeom prst="roundRect">
            <a:avLst>
              <a:gd name="adj" fmla="val 2143"/>
            </a:avLst>
          </a:prstGeom>
          <a:solidFill>
            <a:srgbClr val="1E276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SLAs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092440" y="2377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(cache hit)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9921240" y="23774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1.5s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10835640" y="2377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8092440" y="2862072"/>
            <a:ext cx="3291840" cy="0"/>
          </a:xfrm>
          <a:prstGeom prst="line">
            <a:avLst/>
          </a:prstGeom>
          <a:noFill/>
          <a:ln w="9525">
            <a:solidFill>
              <a:srgbClr val="5B6B8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092440" y="29443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(full RAG)</a:t>
            </a:r>
            <a:endParaRPr lang="en-US" sz="1050" dirty="0"/>
          </a:p>
        </p:txBody>
      </p:sp>
      <p:sp>
        <p:nvSpPr>
          <p:cNvPr id="31" name="Text 26"/>
          <p:cNvSpPr txBox="1"/>
          <p:nvPr/>
        </p:nvSpPr>
        <p:spPr>
          <a:xfrm>
            <a:off x="9921240" y="29443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6s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835640" y="29443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8092440" y="3429000"/>
            <a:ext cx="3291840" cy="0"/>
          </a:xfrm>
          <a:prstGeom prst="line">
            <a:avLst/>
          </a:prstGeom>
          <a:noFill/>
          <a:ln w="9525">
            <a:solidFill>
              <a:srgbClr val="5B6B8C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092440" y="35112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screening</a:t>
            </a:r>
            <a:endParaRPr lang="en-US" sz="1050" dirty="0"/>
          </a:p>
        </p:txBody>
      </p:sp>
      <p:sp>
        <p:nvSpPr>
          <p:cNvPr id="35" name="Text 30"/>
          <p:cNvSpPr txBox="1"/>
          <p:nvPr/>
        </p:nvSpPr>
        <p:spPr>
          <a:xfrm>
            <a:off x="9921240" y="351129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15s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10835640" y="351129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8092440" y="3995928"/>
            <a:ext cx="3291840" cy="0"/>
          </a:xfrm>
          <a:prstGeom prst="line">
            <a:avLst/>
          </a:prstGeom>
          <a:noFill/>
          <a:ln w="9525">
            <a:solidFill>
              <a:srgbClr val="5B6B8C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092440" y="4078224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050" dirty="0"/>
          </a:p>
        </p:txBody>
      </p:sp>
      <p:sp>
        <p:nvSpPr>
          <p:cNvPr id="39" name="Text 34"/>
          <p:cNvSpPr txBox="1"/>
          <p:nvPr/>
        </p:nvSpPr>
        <p:spPr>
          <a:xfrm>
            <a:off x="9921240" y="407822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min</a:t>
            </a:r>
            <a:endParaRPr lang="en-US" sz="1500" dirty="0"/>
          </a:p>
        </p:txBody>
      </p:sp>
      <p:sp>
        <p:nvSpPr>
          <p:cNvPr id="40" name="Text 35"/>
          <p:cNvSpPr txBox="1"/>
          <p:nvPr/>
        </p:nvSpPr>
        <p:spPr>
          <a:xfrm>
            <a:off x="10835640" y="4078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500 txns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8092440" y="4562856"/>
            <a:ext cx="3291840" cy="0"/>
          </a:xfrm>
          <a:prstGeom prst="line">
            <a:avLst/>
          </a:prstGeom>
          <a:noFill/>
          <a:ln w="9525">
            <a:solidFill>
              <a:srgbClr val="5B6B8C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8092440" y="46451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target</a:t>
            </a:r>
            <a:endParaRPr lang="en-US" sz="1050" dirty="0"/>
          </a:p>
        </p:txBody>
      </p:sp>
      <p:sp>
        <p:nvSpPr>
          <p:cNvPr id="43" name="Text 38"/>
          <p:cNvSpPr txBox="1"/>
          <p:nvPr/>
        </p:nvSpPr>
        <p:spPr>
          <a:xfrm>
            <a:off x="9921240" y="46451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1500" dirty="0"/>
          </a:p>
        </p:txBody>
      </p:sp>
      <p:sp>
        <p:nvSpPr>
          <p:cNvPr id="44" name="Text 39"/>
          <p:cNvSpPr txBox="1"/>
          <p:nvPr/>
        </p:nvSpPr>
        <p:spPr>
          <a:xfrm>
            <a:off x="10835640" y="4645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850"/>
              </a:lnSpc>
              <a:buNone/>
            </a:pPr>
            <a:r>
              <a:rPr lang="en-US" sz="750" i="1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prototype→production</a:t>
            </a:r>
            <a:endParaRPr lang="en-US" sz="750" dirty="0"/>
          </a:p>
        </p:txBody>
      </p:sp>
      <p:sp>
        <p:nvSpPr>
          <p:cNvPr id="45" name="Shape 40"/>
          <p:cNvSpPr/>
          <p:nvPr/>
        </p:nvSpPr>
        <p:spPr>
          <a:xfrm>
            <a:off x="8092440" y="5129784"/>
            <a:ext cx="3291840" cy="0"/>
          </a:xfrm>
          <a:prstGeom prst="line">
            <a:avLst/>
          </a:prstGeom>
          <a:noFill/>
          <a:ln w="9525">
            <a:solidFill>
              <a:srgbClr val="5B6B8C"/>
            </a:solidFill>
            <a:prstDash val="solid"/>
          </a:ln>
        </p:spPr>
      </p:sp>
      <p:sp>
        <p:nvSpPr>
          <p:cNvPr id="46" name="Text 41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Monthly Infrastructure Cost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for the assignment's target load: 500 concurrent users, 10,000 queries/day (peak-driven, not average)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70408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508760"/>
            <a:ext cx="384048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~$22K–$27.5K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on-demand blended (us-east-1 pricing)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6974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~$15K–$18K/mo with Reserved Instances / Savings Plans on the GPU line items (production, not day 1)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818120" y="3611880"/>
            <a:ext cx="3840480" cy="20574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8046720" y="3749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beats a SaaS API here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096512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~600M tokens/month at this volume lands in a comparable-to-higher cost band on a metered frontier API — and that path still can't satisfy zero-data-egress for regulated content. Self-hosting isn't just cheaper at this scale; it's the only compliant option.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&amp; Continuous Evaluation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a release gate, not a report generated after the fact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 &amp; LLM Monitoring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774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for latency/GPU/cost; Langfuse traces every request: prompt version, tokens, cost, retrieved chunks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745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0391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52360" y="18928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Nightly RAGAS Eval Gate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7452360" y="23774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Faithfulness, answer relevance, context precision/recall, plus custom citation-accuracy scored on every model/prompt/index change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165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Gate, Not Just Report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7548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drop below its configured floor blocks promotion to production — evaluation runs before release, not after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519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41655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Drift Detection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52360" y="475488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benchmark query set re-run as the corpus grows past 200+ circulars/year; alerts when recall@k degrades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Data, RAG &amp; AI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unless marked; the one AI-specific proprietary option considered is flagged with its OSS alternative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532120"/>
                <a:gridCol w="2286000"/>
              </a:tblGrid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parsing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Unstructured.io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 / RAG glue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components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BAAI/bge-large-en-v1.5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(open weights)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Re-ranker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BAAI/bge-reranker-large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(open weights)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compression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LLMLingua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database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Qdrant (self-hosted)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models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Llama-3.1-8B / 70B-Instruct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3.1 Community License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serving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hosting alt.  [PROPRIETARY]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Bedrock (same open-weight models) — not used; OSS alt.: self-hosted vLLM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C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8A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AWS service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9C7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orchestration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LangGraph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(topical / PII / schema)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 Guardrails, Presidio, Pydantic/outlines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 / MIT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RAGAS + custom metrics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— Infrastructure Layer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AWS services here hold metadata, cache, and cluster control — never raw regulatory document text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10996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532120"/>
                <a:gridCol w="2286000"/>
              </a:tblGrid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/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provider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(EKS, S3, RDS, ElastiCache, KMS)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cloud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orchestration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(EKS) + Helm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/ pod autoscaling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Karpenter + KEDA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mesh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Istio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pipeline orchestration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Airflow (self-hosted)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Keycloak (OIDC)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 store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(Amazon RDS, managed)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engine, managed host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(Amazon ElastiCache, managed)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OSS engine, managed host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+ Grafana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tracing / cost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Langfuse (self-hosted)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framework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IaC / CI-CD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Terraform, GitHub Actions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BUSL / —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Architecture Decisions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ADRs — full context, alternatives, and consequences in the written record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476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37560" y="189280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0717" y="2005965"/>
            <a:ext cx="276606" cy="27660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4672" y="237744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267919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Qdrant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04672" y="3264408"/>
            <a:ext cx="3054096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" y="3410712"/>
            <a:ext cx="3054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hybrid search + payload filters, self-hostable in-VPC. Considered: Weaviate (close second), Milvus (over-engineered for this corpus), pgvector (no native hybrid), Pinecone (SaaS-only — rejected on data residency).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9432" y="19476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99432" y="19476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132320" y="189280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477" y="2005965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599432" y="237744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Hosting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599432" y="267919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Self-hosted vLLM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4599432" y="3264408"/>
            <a:ext cx="3054096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99432" y="3410712"/>
            <a:ext cx="3054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option that makes “no regulated data leaves the VPC” architectural, not promised. Considered: closed API (rejected — data + license), AWS Bedrock (flagged fallback if GPU-ops capacity becomes the constraint).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8138160" y="169164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394192" y="194767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8394192" y="194767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10927080" y="189280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237" y="2005965"/>
            <a:ext cx="276606" cy="27660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394192" y="2377440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394192" y="2679192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8394192" y="3264408"/>
            <a:ext cx="3054096" cy="0"/>
          </a:xfrm>
          <a:prstGeom prst="line">
            <a:avLst/>
          </a:prstGeom>
          <a:noFill/>
          <a:ln w="9525">
            <a:solidFill>
              <a:srgbClr val="CADCF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8394192" y="3410712"/>
            <a:ext cx="30540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checkpointed state graph — auditability over autonomy. Considered: CrewAI/AutoGen (conversation-centric, harder to audit), a commercial agent platform (rejected — vendor data path).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Assignment Explicitly Warned Against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concern is addressed structurally in this design, not just acknowledged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3A1620"/>
          </a:solidFill>
          <a:ln w="12700">
            <a:solidFill>
              <a:srgbClr val="B340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46634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3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Generic LangChain tutorial repackaged as architecture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06440" y="2144268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1654" y="2259482"/>
            <a:ext cx="281635" cy="28163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46520" y="1691640"/>
            <a:ext cx="5193792" cy="1417320"/>
          </a:xfrm>
          <a:prstGeom prst="roundRect">
            <a:avLst>
              <a:gd name="adj" fmla="val 5161"/>
            </a:avLst>
          </a:prstGeom>
          <a:solidFill>
            <a:srgbClr val="E1F0E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75120" y="18288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used only for text-splitting utilities; retrieval (Qdrant), agent orchestration (LangGraph), guardrails (NeMo), and serving (vLLM) are each purpose-fit components, not one framework doing everything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310128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3A1620"/>
          </a:solidFill>
          <a:ln w="12700">
            <a:solidFill>
              <a:srgbClr val="B340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474720"/>
            <a:ext cx="46634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3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Over-reliance on a single LLM provider, no fallback or cost controls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06440" y="3762756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654" y="3877970"/>
            <a:ext cx="281635" cy="28163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46520" y="3310128"/>
            <a:ext cx="5193792" cy="1417320"/>
          </a:xfrm>
          <a:prstGeom prst="roundRect">
            <a:avLst>
              <a:gd name="adj" fmla="val 5161"/>
            </a:avLst>
          </a:prstGeom>
          <a:solidFill>
            <a:srgbClr val="E1F0E7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675120" y="344728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self-hosted models, explicit fallback chain + circuit breaker, token budgets, and semantic caching — the “provider” is FinServ's own infrastructure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928616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3A1620"/>
          </a:solidFill>
          <a:ln w="12700">
            <a:solidFill>
              <a:srgbClr val="B3402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77240" y="5093208"/>
            <a:ext cx="466344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39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Architectures that ignore data sovereignty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806440" y="5381244"/>
            <a:ext cx="512064" cy="51206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654" y="5496458"/>
            <a:ext cx="281635" cy="28163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446520" y="4928616"/>
            <a:ext cx="5193792" cy="1417320"/>
          </a:xfrm>
          <a:prstGeom prst="roundRect">
            <a:avLst>
              <a:gd name="adj" fmla="val 5161"/>
            </a:avLst>
          </a:prstGeom>
          <a:solidFill>
            <a:srgbClr val="E1F0E7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675120" y="5065776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63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Region-pinned deployment (India / EU / US), zero-egress inference namespace enforced at the network layer — not a policy document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begins only after this plan, tech stack, and feature list are confirmed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05840" y="2167128"/>
            <a:ext cx="99669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21892" y="1965960"/>
            <a:ext cx="402336" cy="402336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88" y="20482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487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1792" y="2761488"/>
            <a:ext cx="2002536" cy="2286000"/>
          </a:xfrm>
          <a:prstGeom prst="roundRect">
            <a:avLst>
              <a:gd name="adj" fmla="val 411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58952" y="2898648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&amp; Architecture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58952" y="3538728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Micro-requirements, ADRs, tech stack, solution PPT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570732" y="1965960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028" y="204825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2487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770632" y="2761488"/>
            <a:ext cx="2002536" cy="2286000"/>
          </a:xfrm>
          <a:prstGeom prst="roundRect">
            <a:avLst>
              <a:gd name="adj" fmla="val 411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2907792" y="2898648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Pipeline Prototype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907792" y="3538728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5+ docs, hybrid search, re-ranking, citations (2A)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719572" y="1965960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68" y="204825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92040" y="2487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919472" y="2761488"/>
            <a:ext cx="2002536" cy="2286000"/>
          </a:xfrm>
          <a:prstGeom prst="roundRect">
            <a:avLst>
              <a:gd name="adj" fmla="val 411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5056632" y="2898648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Compliance Checker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056632" y="3538728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agent, structured risk assessment (2B)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868412" y="1965960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708" y="204825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40880" y="2487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7068312" y="2761488"/>
            <a:ext cx="2002536" cy="2286000"/>
          </a:xfrm>
          <a:prstGeom prst="roundRect">
            <a:avLst>
              <a:gd name="adj" fmla="val 411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27" name="Text 21"/>
          <p:cNvSpPr txBox="1"/>
          <p:nvPr/>
        </p:nvSpPr>
        <p:spPr>
          <a:xfrm>
            <a:off x="7205472" y="2898648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Framework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7205472" y="3538728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QA ground-truth set, RAGAS scoring, failure analysis (2C)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10017252" y="1965960"/>
            <a:ext cx="402336" cy="402336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9548" y="2048256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189720" y="248716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9217152" y="2761488"/>
            <a:ext cx="2002536" cy="2286000"/>
          </a:xfrm>
          <a:prstGeom prst="roundRect">
            <a:avLst>
              <a:gd name="adj" fmla="val 411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33" name="Text 26"/>
          <p:cNvSpPr txBox="1"/>
          <p:nvPr/>
        </p:nvSpPr>
        <p:spPr>
          <a:xfrm>
            <a:off x="9354312" y="2898648"/>
            <a:ext cx="17282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Hardening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9354312" y="3538728"/>
            <a:ext cx="17282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rollout, cost optimization, HA (beyond assignment scope)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548640" y="5440680"/>
            <a:ext cx="11109960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223355">
                <a:alpha val="18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822960" y="544068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confirm the plan, technology stack, and feature list above — then Phase 1 development starts.</a:t>
            </a:r>
            <a:endParaRPr lang="en-US" sz="1350" dirty="0"/>
          </a:p>
        </p:txBody>
      </p:sp>
      <p:sp>
        <p:nvSpPr>
          <p:cNvPr id="37" name="Text 30"/>
          <p:cNvSpPr txBox="1"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FinServ Global  ·  AI Regulatory Compliance Assistant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Regulatory Compliance Assistant — FinServ Global</dc:title>
  <dc:subject>PptxGenJS Presentation</dc:subject>
  <dc:creator>AI Architect</dc:creator>
  <cp:lastModifiedBy>AI Architect</cp:lastModifiedBy>
  <cp:revision>1</cp:revision>
  <dcterms:created xsi:type="dcterms:W3CDTF">2026-08-26T13:19:58Z</dcterms:created>
  <dcterms:modified xsi:type="dcterms:W3CDTF">2026-08-26T13:19:58Z</dcterms:modified>
</cp:coreProperties>
</file>