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5321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FFC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52144" y="55321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FD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01368" y="55321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B59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50592" y="55321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E3E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99816" y="55321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FD9A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49040" y="55321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AE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17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6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FINSERV GLOBAL  ·  AI ARCHITECT TECHNICAL 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 i="0" spc="1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AI-POWERED REGULATORY
COMPLIANCE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70332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Solution architecture &amp; technology stack for Basel III, MiFID II, and RBI compliance — open-source, production-aware, fully auditable.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45262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FFC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Open-Source First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19756" y="4526280"/>
            <a:ext cx="1792224" cy="420624"/>
          </a:xfrm>
          <a:prstGeom prst="roundRect">
            <a:avLst>
              <a:gd name="adj" fmla="val 50000"/>
            </a:avLst>
          </a:prstGeom>
          <a:solidFill>
            <a:srgbClr val="1FD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Production-Aware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4526280"/>
            <a:ext cx="1696212" cy="420624"/>
          </a:xfrm>
          <a:prstGeom prst="roundRect">
            <a:avLst>
              <a:gd name="adj" fmla="val 50000"/>
            </a:avLst>
          </a:prstGeom>
          <a:solidFill>
            <a:srgbClr val="B59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Fully Auditable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Confidential — prepared for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EIGHT SECTIONS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From business problem to production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7128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Business Context &amp; Personas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Why FinServ needs this, and who uses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481328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162763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2167128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Core Capabilities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The four scenarios the system must handle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91656" y="1481328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62763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2167128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High-Level Architecture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How the components fit together end to 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6024" y="1481328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162763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18904" y="2167128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RAG Pipeline Design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Ingestion, chunking, retrieval, citations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9624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9959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35424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LLM Orchestration &amp; Guardrails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Model routing, prompting, safety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47288" y="3849624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AEB8FF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0168" y="39959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4535424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Agentic Compliance Workflow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The LangGraph compliance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6" y="3849624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9BE8C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39959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4535424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Infrastructure, Security &amp; Cost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Cloud topology, data residency,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024" y="3849624"/>
            <a:ext cx="2743200" cy="2148840"/>
          </a:xfrm>
          <a:prstGeom prst="roundRect">
            <a:avLst>
              <a:gd name="adj" fmla="val 10000"/>
            </a:avLst>
          </a:prstGeom>
          <a:solidFill>
            <a:srgbClr val="FFB4CE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18904" y="39959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8904" y="4535424"/>
            <a:ext cx="2377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Technology Stack &amp; Roadmap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Full stack, key decisions, what's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THE COMPLIANCE TEAM IS DROWNING IN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~40 compliance officers across India, the EU, and the US — spending most of their week on manual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88336" cy="2377440"/>
          </a:xfrm>
          <a:prstGeom prst="roundRect">
            <a:avLst>
              <a:gd name="adj" fmla="val 12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984248"/>
            <a:ext cx="2286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60%+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82748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of officer time spent manually searching regulatory PDFs and cross-referencing circulars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1" y="1783080"/>
            <a:ext cx="2688336" cy="2377440"/>
          </a:xfrm>
          <a:prstGeom prst="roundRect">
            <a:avLst>
              <a:gd name="adj" fmla="val 12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79" y="1984248"/>
            <a:ext cx="2286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200+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682748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new circulars and amendments issued per year across Basel III, MiFID II, and RBI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3" y="1783080"/>
            <a:ext cx="2688336" cy="2377440"/>
          </a:xfrm>
          <a:prstGeom prst="roundRect">
            <a:avLst>
              <a:gd name="adj" fmla="val 12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1" y="1984248"/>
            <a:ext cx="2286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1" y="2682748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overlapping jurisdictions — a single cross-border trade can trigger obligations under all of them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26296" y="1783080"/>
            <a:ext cx="2688336" cy="2377440"/>
          </a:xfrm>
          <a:prstGeom prst="roundRect">
            <a:avLst>
              <a:gd name="adj" fmla="val 12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7464" y="1984248"/>
            <a:ext cx="2286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4" y="2682748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of decisions must be traceable — regulators expect documented evidence, not best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WHO USES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THREE PERSONAS, THREE VERY DIFFERENT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The system is designed around what each role actually asks of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37360"/>
            <a:ext cx="3639312" cy="2651760"/>
          </a:xfrm>
          <a:prstGeom prst="roundRect">
            <a:avLst>
              <a:gd name="adj" fmla="val 9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0664" y="1975104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31638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10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DAY-TO-DAY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907791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Compliance Officer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401568"/>
            <a:ext cx="3163824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“Does this transaction violate any regulation?” — needs fast, cited answers in seconds, not hours.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8264" y="1737360"/>
            <a:ext cx="3639312" cy="2651760"/>
          </a:xfrm>
          <a:prstGeom prst="roundRect">
            <a:avLst>
              <a:gd name="adj" fmla="val 9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36007" y="1975104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197510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633472"/>
            <a:ext cx="31638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10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OVERSIGHT &amp; REPORTING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07791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Compliance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3401568"/>
            <a:ext cx="3163824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Weekly and monthly compliance posture reports with trend analysis, ready for leadership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93608" y="1737360"/>
            <a:ext cx="3639312" cy="2651760"/>
          </a:xfrm>
          <a:prstGeom prst="roundRect">
            <a:avLst>
              <a:gd name="adj" fmla="val 9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31352" y="1975104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31352" y="197510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2633472"/>
            <a:ext cx="31638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10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POST-FACTO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1352" y="2907791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Internal Auditor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401568"/>
            <a:ext cx="3163824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 complete audit trail of every AI-assisted decision, with source citations — nothing taken on faith.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CORE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FOUR SCENARIOS THE SYSTEM MUST HANDLE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Every architectural decision downstream traces back to one of these four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2724912" cy="2651760"/>
          </a:xfrm>
          <a:prstGeom prst="roundRect">
            <a:avLst>
              <a:gd name="adj" fmla="val 9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911095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FR-1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441448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Natural-Language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72968"/>
            <a:ext cx="228600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“What are the Tier 1 capital adequacy requirements under Basel III as amended in 2023?” — a cited, versioned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7" y="1691640"/>
            <a:ext cx="2724912" cy="2651760"/>
          </a:xfrm>
          <a:prstGeom prst="roundRect">
            <a:avLst>
              <a:gd name="adj" fmla="val 9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66744" y="1911095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FR-2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2441448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Transaction Screening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3172968"/>
            <a:ext cx="228600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Given amount, counterparty, jurisdiction, and instrument type — flag applicable regulations and rate the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1655" y="1691640"/>
            <a:ext cx="2724912" cy="2651760"/>
          </a:xfrm>
          <a:prstGeom prst="roundRect">
            <a:avLst>
              <a:gd name="adj" fmla="val 9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11112" y="1911095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FR-3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2441448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Regulatory Change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3172968"/>
            <a:ext cx="228600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When a new RBI circular is ingested, automatically identify which existing policies or transaction types are affected.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6024" y="1691640"/>
            <a:ext cx="2724912" cy="2651760"/>
          </a:xfrm>
          <a:prstGeom prst="roundRect">
            <a:avLst>
              <a:gd name="adj" fmla="val 9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55480" y="1911095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FR-4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2441448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Compliance Report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3172968"/>
            <a:ext cx="228600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 structured, audit-committee-ready report for a set of transactions over a period.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RAG PIPELINE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CLAUSE-BOUNDED CHUNKING, BUILT FOR REGULATORY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18413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Hybrid retrieval purpose-built for numbered regulatory clauses, not generic prose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36192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71907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2848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Ingest &amp; Parse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33472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Unstructured.io — multi-format (PDF/DOCX/HTML), layout-aware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536192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30168" y="171907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7190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2212848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Clause-Bounded Chunking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33472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~512 tokens, 15% overlap; splits on clause numbering, not blind windows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5" y="1536192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74536" y="171907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4536" y="17190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2212848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Embedding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2633472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BAAI/bge-large-en-v1.5 (1024-dim), self-hosted via HF TEI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6024" y="1536192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18904" y="171907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18904" y="17190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8904" y="2212848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Qdrant Vector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18904" y="2633472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Dense + sparse vectors, payload-filtered by jurisdiction &amp; version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703320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3886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886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79976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Hybrid Retrieval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00600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Dense + BM25/SPLADE, fused via Reciprocal Rank Fusion — top 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703320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AEB8FF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30168" y="3886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3886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4379976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Re-Ranking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0168" y="4800600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Cross-encoder BAAI/bge-reranker-large — 50 → top 8 chunks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1655" y="3703320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9BE8C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74536" y="3886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4536" y="3886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4379976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Contextual Compression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74536" y="4800600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LLMLingua trims context, preserving numerals &amp; defined terms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36024" y="3703320"/>
            <a:ext cx="2724912" cy="1965960"/>
          </a:xfrm>
          <a:prstGeom prst="roundRect">
            <a:avLst>
              <a:gd name="adj" fmla="val 11000"/>
            </a:avLst>
          </a:prstGeom>
          <a:solidFill>
            <a:srgbClr val="FFB4CE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18904" y="388620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18904" y="3886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18904" y="4379976"/>
            <a:ext cx="2359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Cited, Versioned Answer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18904" y="4800600"/>
            <a:ext cx="2359152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Every claim maps to a {doc, clause, version} citation key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7424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Requirements RAG-1 – RAG-7  ·  document updates append-only, versioned, never overwritten in place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LLM ORCHESTRATION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TWO MODEL TIERS, ROUTED DETERMINISTICALLY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Open-weight models, self-hosted by default — structural guardrails, not just prompted 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1234440"/>
          </a:xfrm>
          <a:prstGeom prst="roundRect">
            <a:avLst>
              <a:gd name="adj" fmla="val 11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8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ROUTER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938528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Llama-3.1-8B-Instruct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04288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Intent classification · PII pre-scan · served via vLLM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481328"/>
            <a:ext cx="5486400" cy="1234440"/>
          </a:xfrm>
          <a:prstGeom prst="roundRect">
            <a:avLst>
              <a:gd name="adj" fmla="val 11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2763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8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GENERATION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38528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Llama-3.1-70B-Instruct (AWQ 4-bit)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Answer / assessment / report synthesis · vLLM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53512"/>
            <a:ext cx="2532888" cy="1051560"/>
          </a:xfrm>
          <a:prstGeom prst="roundRect">
            <a:avLst>
              <a:gd name="adj" fmla="val 12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09981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PII Redaction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45643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Microsoft Presidio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8688" y="2953512"/>
            <a:ext cx="2532888" cy="1051560"/>
          </a:xfrm>
          <a:prstGeom prst="roundRect">
            <a:avLst>
              <a:gd name="adj" fmla="val 12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309981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Citation Verifier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345643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Rejects unresolved keys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34456" y="2953512"/>
            <a:ext cx="2532888" cy="1051560"/>
          </a:xfrm>
          <a:prstGeom prst="roundRect">
            <a:avLst>
              <a:gd name="adj" fmla="val 12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9981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NeMo Topical 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5643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Off-topic → fixed decline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50224" y="2953512"/>
            <a:ext cx="2532888" cy="1051560"/>
          </a:xfrm>
          <a:prstGeom prst="roundRect">
            <a:avLst>
              <a:gd name="adj" fmla="val 12000"/>
            </a:avLst>
          </a:prstGeom>
          <a:solidFill>
            <a:srgbClr val="AEB8FF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6528" y="309981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Schema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345643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Pydantic / outlines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279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FALLBACK CHAIN &amp; COST 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08576"/>
            <a:ext cx="2532888" cy="914400"/>
          </a:xfrm>
          <a:prstGeom prst="roundRect">
            <a:avLst>
              <a:gd name="adj" fmla="val 12000"/>
            </a:avLst>
          </a:prstGeom>
          <a:solidFill>
            <a:srgbClr val="9BE8C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" y="4736592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6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PRIMARY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5029200"/>
            <a:ext cx="22402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Self-hosted vLLM (8B / 70B)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608576"/>
            <a:ext cx="2532888" cy="914400"/>
          </a:xfrm>
          <a:prstGeom prst="roundRect">
            <a:avLst>
              <a:gd name="adj" fmla="val 12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64992" y="4736592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6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ON TIMEOUT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5029200"/>
            <a:ext cx="22402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Secondary smaller model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34456" y="4608576"/>
            <a:ext cx="2532888" cy="914400"/>
          </a:xfrm>
          <a:prstGeom prst="roundRect">
            <a:avLst>
              <a:gd name="adj" fmla="val 12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736592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6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REPEATED FAILURE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029200"/>
            <a:ext cx="22402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Circuit breaker → degraded response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50224" y="4608576"/>
            <a:ext cx="2532888" cy="914400"/>
          </a:xfrm>
          <a:prstGeom prst="roundRect">
            <a:avLst>
              <a:gd name="adj" fmla="val 12000"/>
            </a:avLst>
          </a:prstGeom>
          <a:solidFill>
            <a:srgbClr val="E14F3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spc="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NEVER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6528" y="5029200"/>
            <a:ext cx="22402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Silent fallback to external SaaS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DATA RESIDENCY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REGION ISOLATION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Regulated document text and transaction data never cross a jurisdictional border by default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3639312" cy="3703320"/>
          </a:xfrm>
          <a:prstGeom prst="roundRect">
            <a:avLst>
              <a:gd name="adj" fmla="val 8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013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India — ap-south-1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0370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RBI Master Directions, KYC, NBFC lending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779776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79776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EKS Cluster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255264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255264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Qdrant (region-local)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30752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730752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vLLM (region-local)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4206240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4206240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FastAPI + Keycloak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773167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✕  no cross-border replication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98264" y="1600200"/>
            <a:ext cx="3639312" cy="3703320"/>
          </a:xfrm>
          <a:prstGeom prst="roundRect">
            <a:avLst>
              <a:gd name="adj" fmla="val 8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8013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EU — eu-central-1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20370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MiFID II, appropriateness assessments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2779776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2312" y="2779776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EKS Cluster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3255264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3255264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Qdrant (region-local)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3730752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3730752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vLLM (region-local)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4206240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4206240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FastAPI + Keycloak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773167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✕  no cross-border replication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93608" y="1600200"/>
            <a:ext cx="3639312" cy="3703320"/>
          </a:xfrm>
          <a:prstGeom prst="roundRect">
            <a:avLst>
              <a:gd name="adj" fmla="val 8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13064" y="18013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US — us-east-1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13064" y="220370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Basel III (US adoption), cross-border oversight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13064" y="2779776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77656" y="2779776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EKS Cluster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13064" y="3255264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77656" y="3255264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Qdrant (region-local)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13064" y="3730752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7656" y="3730752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vLLM (region-local)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3064" y="4206240"/>
            <a:ext cx="3200400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4206240"/>
            <a:ext cx="290779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FastAPI + Keycloak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13064" y="4773167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✕  no cross-border replication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CONTROLS ADDRESSED STRUCTURALLY, NOT JUST ON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18413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The section the assignment grades hardest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3639312" cy="2148840"/>
          </a:xfrm>
          <a:prstGeom prst="roundRect">
            <a:avLst>
              <a:gd name="adj" fmla="val 10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01368"/>
            <a:ext cx="32369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Region-Pinned Encryption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KMS customer-managed keys per region; TLS 1.2+ everywhere, Istio mTLS internally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600200"/>
            <a:ext cx="3639312" cy="2148840"/>
          </a:xfrm>
          <a:prstGeom prst="roundRect">
            <a:avLst>
              <a:gd name="adj" fmla="val 10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1" y="1801368"/>
            <a:ext cx="32369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RBAC via Keycloak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Roles mapped to personas: Officer, Head, Auditor — least-privilege by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600200"/>
            <a:ext cx="3639312" cy="2148840"/>
          </a:xfrm>
          <a:prstGeom prst="roundRect">
            <a:avLst>
              <a:gd name="adj" fmla="val 10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1801368"/>
            <a:ext cx="32369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Immutable Audit Log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Every request's full lineage in Postgres, mirrored to S3 Object Lock (WORM)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68496"/>
            <a:ext cx="3639312" cy="2148840"/>
          </a:xfrm>
          <a:prstGeom prst="roundRect">
            <a:avLst>
              <a:gd name="adj" fmla="val 10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169663"/>
            <a:ext cx="32369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Zero-Egress Inference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Inference namespace has no outbound internet route — enforced at the network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8264" y="3968496"/>
            <a:ext cx="3639312" cy="2148840"/>
          </a:xfrm>
          <a:prstGeom prst="roundRect">
            <a:avLst>
              <a:gd name="adj" fmla="val 10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4169663"/>
            <a:ext cx="32369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PII Redaction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Microsoft Presidio scans and redacts before anything is logged, cached, or exported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3968496"/>
            <a:ext cx="3639312" cy="2148840"/>
          </a:xfrm>
          <a:prstGeom prst="roundRect">
            <a:avLst>
              <a:gd name="adj" fmla="val 10000"/>
            </a:avLst>
          </a:prstGeom>
          <a:solidFill>
            <a:srgbClr val="AEB8FF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4169663"/>
            <a:ext cx="32369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Prompt-Injection Containment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Retrieved content treated as untrusted; fixed tool skeleton bounds what it can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INFRASTRUCTURE &amp; AUTO-SCALING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SIZED FOR 500 CONCURRENT USERS, 10K QUERIES/DAY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AWS · EKS · one cluster per region · GPU-aware autoscaling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3639312" cy="1371600"/>
          </a:xfrm>
          <a:prstGeom prst="roundRect">
            <a:avLst>
              <a:gd name="adj" fmla="val 11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3236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CPU Node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011680"/>
            <a:ext cx="3236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API · Airflow · Qdrant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m6i.xlarge, static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481328"/>
            <a:ext cx="3639312" cy="1371600"/>
          </a:xfrm>
          <a:prstGeom prst="roundRect">
            <a:avLst>
              <a:gd name="adj" fmla="val 11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627632"/>
            <a:ext cx="3236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GPU Pool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011680"/>
            <a:ext cx="3236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8B router + embeddings + reranker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g5.2xlarge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93608" y="1481328"/>
            <a:ext cx="3639312" cy="1371600"/>
          </a:xfrm>
          <a:prstGeom prst="roundRect">
            <a:avLst>
              <a:gd name="adj" fmla="val 11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4776" y="1627632"/>
            <a:ext cx="3236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GPU Pool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4776" y="2011680"/>
            <a:ext cx="32369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70B generation (AWQ), tensor-parallel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g5.12xlarge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72384"/>
            <a:ext cx="3438144" cy="777240"/>
          </a:xfrm>
          <a:prstGeom prst="roundRect">
            <a:avLst>
              <a:gd name="adj" fmla="val 14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1638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Karpenter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45643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Node-level autoscaling — GPU capacity is the dominant cost driver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23944" y="3072384"/>
            <a:ext cx="3438144" cy="777240"/>
          </a:xfrm>
          <a:prstGeom prst="roundRect">
            <a:avLst>
              <a:gd name="adj" fmla="val 14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8536" y="31638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KEDA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45643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Pod-level autoscaling on vLLM request-queue depth, not CPU%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44968" y="3072384"/>
            <a:ext cx="3438144" cy="777240"/>
          </a:xfrm>
          <a:prstGeom prst="roundRect">
            <a:avLst>
              <a:gd name="adj" fmla="val 14000"/>
            </a:avLst>
          </a:prstGeom>
          <a:solidFill>
            <a:srgbClr val="AEB8FF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1638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Istio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45643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mTLS mesh; enforces the zero-egress boundary on inference pods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87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LATENCY SLAs (P95)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16552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544568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&lt; 1.5s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928616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Q&amp;A (cache hit)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68219" y="4416552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96235" y="4544568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&lt; 6s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6235" y="4928616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Q&amp;A (full RAG)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33518" y="4416552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61534" y="4544568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&lt; 15s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1534" y="4928616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Transaction screening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8817" y="4416552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6833" y="4544568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&lt; 5 min (async)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6833" y="4928616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Report generation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64116" y="4416552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92132" y="4544568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99.5%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2132" y="4928616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Availability 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ESTIMATED MONTHLY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SIZED FOR THE ASSIGNMENT'S TARGET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500 concurrent users, 10,000 queries/day (on-demand blended, us-east-1)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70B generation GPU pool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609344"/>
            <a:ext cx="3520440" cy="256031"/>
          </a:xfrm>
          <a:prstGeom prst="roundRect">
            <a:avLst>
              <a:gd name="adj" fmla="val 40000"/>
            </a:avLst>
          </a:prstGeom>
          <a:solidFill>
            <a:srgbClr val="FFC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572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$16.0K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43684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8B router + embedding + reranker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080260"/>
            <a:ext cx="825103" cy="256031"/>
          </a:xfrm>
          <a:prstGeom prst="roundRect">
            <a:avLst>
              <a:gd name="adj" fmla="val 40000"/>
            </a:avLst>
          </a:prstGeom>
          <a:solidFill>
            <a:srgbClr val="1FD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4103" y="2043684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$3.8K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RDS Postgres (Multi-AZ)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551176"/>
            <a:ext cx="396049" cy="256031"/>
          </a:xfrm>
          <a:prstGeom prst="roundRect">
            <a:avLst>
              <a:gd name="adj" fmla="val 40000"/>
            </a:avLst>
          </a:prstGeom>
          <a:solidFill>
            <a:srgbClr val="B59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5049" y="2514600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85515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CPU node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022091"/>
            <a:ext cx="264033" cy="256031"/>
          </a:xfrm>
          <a:prstGeom prst="roundRect">
            <a:avLst>
              <a:gd name="adj" fmla="val 40000"/>
            </a:avLst>
          </a:prstGeom>
          <a:solidFill>
            <a:srgbClr val="E3E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3033" y="2985515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$1.2K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456432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Observability stack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493008"/>
            <a:ext cx="132016" cy="256031"/>
          </a:xfrm>
          <a:prstGeom prst="roundRect">
            <a:avLst>
              <a:gd name="adj" fmla="val 40000"/>
            </a:avLst>
          </a:prstGeom>
          <a:solidFill>
            <a:srgbClr val="FD9A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1016" y="3456432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$0.6K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927348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Data transfer / ALB / WAF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37560" y="3963924"/>
            <a:ext cx="110013" cy="256031"/>
          </a:xfrm>
          <a:prstGeom prst="roundRect">
            <a:avLst>
              <a:gd name="adj" fmla="val 40000"/>
            </a:avLst>
          </a:prstGeom>
          <a:solidFill>
            <a:srgbClr val="AE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9013" y="392734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$0.5K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398264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Qdrant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4434840"/>
            <a:ext cx="109728" cy="256031"/>
          </a:xfrm>
          <a:prstGeom prst="roundRect">
            <a:avLst>
              <a:gd name="adj" fmla="val 40000"/>
            </a:avLst>
          </a:prstGeom>
          <a:solidFill>
            <a:srgbClr val="9BE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8" y="4398264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$0.4K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869180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ElastiCache Redis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4905756"/>
            <a:ext cx="109728" cy="256031"/>
          </a:xfrm>
          <a:prstGeom prst="roundRect">
            <a:avLst>
              <a:gd name="adj" fmla="val 40000"/>
            </a:avLst>
          </a:prstGeom>
          <a:solidFill>
            <a:srgbClr val="FF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8728" y="4869180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$0.3K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40096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EKS control plane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5376672"/>
            <a:ext cx="109728" cy="256031"/>
          </a:xfrm>
          <a:prstGeom prst="roundRect">
            <a:avLst>
              <a:gd name="adj" fmla="val 40000"/>
            </a:avLst>
          </a:prstGeom>
          <a:solidFill>
            <a:srgbClr val="FFC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8728" y="5340096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$0.2K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1572768"/>
            <a:ext cx="4233672" cy="1554480"/>
          </a:xfrm>
          <a:prstGeom prst="roundRect">
            <a:avLst>
              <a:gd name="adj" fmla="val 9000"/>
            </a:avLst>
          </a:prstGeom>
          <a:solidFill>
            <a:srgbClr val="0A0A0A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08392" y="173736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$22K–$27.5K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92" y="2331720"/>
            <a:ext cx="37490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D8D8DC"/>
                </a:solidFill>
                <a:latin typeface="Poppins"/>
                <a:ea typeface="Poppins"/>
                <a:cs typeface="Poppins"/>
              </a:rPr>
              <a:t>per month, on-demand blended — ~$15K–$18K with Reserved Instances / Savings Plans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52360" y="3310128"/>
            <a:ext cx="4233672" cy="2148840"/>
          </a:xfrm>
          <a:prstGeom prst="roundRect">
            <a:avLst>
              <a:gd name="adj" fmla="val 9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90104" y="3511296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WHY THIS BEATS A SAAS API HERE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0104" y="3877056"/>
            <a:ext cx="3767328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~600M tokens/month at this volume lands in a comparable-to-higher cost band on a frontier-model API — before accounting for the fact that a SaaS API cannot satisfy “no regulated data leaves the network” at all.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OBSERVABILITY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QUALITY IS A RELEASE GATE, NOT AN AFTER-THE-FACT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07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Continuous evaluation wired into the deploy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2768"/>
            <a:ext cx="2724912" cy="2148840"/>
          </a:xfrm>
          <a:prstGeom prst="roundRect">
            <a:avLst>
              <a:gd name="adj" fmla="val 10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773936"/>
            <a:ext cx="23225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Infra &amp; LLM Monitoring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Prometheus + Grafana for latency/GPU/cost; Langfuse traces every request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7" y="1572768"/>
            <a:ext cx="2724912" cy="2148840"/>
          </a:xfrm>
          <a:prstGeom prst="roundRect">
            <a:avLst>
              <a:gd name="adj" fmla="val 10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1773936"/>
            <a:ext cx="23225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Nightly RAGAS Eval Gate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Faithfulness, answer relevance, context precision/recall, plus custom citation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5" y="1572768"/>
            <a:ext cx="2724912" cy="2148840"/>
          </a:xfrm>
          <a:prstGeom prst="roundRect">
            <a:avLst>
              <a:gd name="adj" fmla="val 10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3" y="1773936"/>
            <a:ext cx="23225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Deploy Gate, Not Just Report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 metric drop below its configured floor blocks promotion to production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36024" y="1572768"/>
            <a:ext cx="2724912" cy="2148840"/>
          </a:xfrm>
          <a:prstGeom prst="roundRect">
            <a:avLst>
              <a:gd name="adj" fmla="val 10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37192" y="1773936"/>
            <a:ext cx="2322576" cy="1746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3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Corpus Drift Detection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Fixed benchmark query set re-run as the corpus grows past 200+ circulars/year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32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PROMOTION THRESHOLDS (NIGHTLY GATE)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79976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507992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≥ 0.92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4892040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Faithfulness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68219" y="4379976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96235" y="4507992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≥ 0.97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6235" y="4892040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Citation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33518" y="4379976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1534" y="4507992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≥ 0.88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1534" y="4892040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Context recall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8817" y="4379976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6833" y="4507992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≥ 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6833" y="4892040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Answer relevance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4116" y="4379976"/>
            <a:ext cx="2018995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7E7EA"/>
            </a:solidFill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2132" y="4507992"/>
            <a:ext cx="17629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500 queries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2132" y="4892040"/>
            <a:ext cx="176296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Regression suite / night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DATA, RAG &amp; AI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18413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Open source unless marked — the one AI-specific proprietary option considered is flagged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1183112" cy="352043"/>
          </a:xfrm>
          <a:prstGeom prst="roundRect">
            <a:avLst>
              <a:gd name="adj" fmla="val 35000"/>
            </a:avLst>
          </a:prstGeom>
          <a:solidFill>
            <a:srgbClr val="1FD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08760"/>
            <a:ext cx="1965960" cy="3520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9776" y="1508760"/>
            <a:ext cx="2560320" cy="3520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2976" y="1508760"/>
            <a:ext cx="1143000" cy="3520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License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8856" y="1508760"/>
            <a:ext cx="4782312" cy="3520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Why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97379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897379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Document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9776" y="1897379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Unstructured.io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1897379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8856" y="1897379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Layout-aware multi-format parsing (RAG-1.1)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94559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194559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Data pipeline 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9776" y="2194559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Airflow (self-hosted)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2976" y="2194559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8856" y="2194559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Ingestion + eval + impact-scan DAGs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491739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491739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Chunking / RAG glue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9776" y="2491739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LangChain components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2976" y="2491739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8856" y="2491739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RecursiveCharacterTextSplitter etc. (RAG-2)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78892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278892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Embedding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9776" y="278892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BAAI/bge-large-en-v1.5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278892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 (weights)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8856" y="278892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Self-hosted via HuggingFace TEI (RAG-3.1)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08610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308610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Re-ranker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9776" y="308610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BAAI/bge-reranker-large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2976" y="308610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 (weights)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48856" y="308610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50 → top 8 chunks (RAG-4.3)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38328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" y="338328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Context compression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9776" y="338328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LLMLingua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2976" y="338328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48856" y="338328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Trims context, preserves numerals (RAG-4.4)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68046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368046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Vector database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9776" y="368046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Qdrant (self-hosted)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22976" y="368046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48856" y="368046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Native hybrid search + payload filters (ADR-001)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97764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" y="397764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Keyword / sparse signal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79776" y="397764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Qdrant native sparse vectors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397764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8856" y="397764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Avoids a second BM25 search cluster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27482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" y="427482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Foundation models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79776" y="427482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Llama-3.1-8B / 70B-Instruct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976" y="427482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Llama 3.1 Community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8856" y="427482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Router + generation tiers (LLM-1.1)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457200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57200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Model serving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79776" y="457200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vLLM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976" y="457200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6" y="457200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High-throughput serving, structured output (LLM-3.5)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2920" y="486918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" y="486918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[PROPRIETARY] alternative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79776" y="486918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AWS Bedrock (same OSS models)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22976" y="486918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Paid AWS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48856" y="486918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Flagged; prototype uses self-hosted vLLM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16636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16636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Agent orchestration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9776" y="516636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LangGraph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22976" y="516636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48856" y="516636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Explicit state graph → auditability (ADR-003)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546354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0936" y="546354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Guardrails — topical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79776" y="546354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NeMo Guardrails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22976" y="546354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48856" y="546354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Scope rail (LLM-4.5)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76072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6" y="576072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Guardrails — PII redaction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79776" y="576072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Microsoft Presidio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22976" y="576072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48856" y="576072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Redacts before log/cache/export (LLM-4.3)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02920" y="6057900"/>
            <a:ext cx="11183112" cy="297179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0936" y="6057900"/>
            <a:ext cx="196596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Evaluation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79776" y="6057900"/>
            <a:ext cx="256032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RAGAS + custom metrics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22976" y="6057900"/>
            <a:ext cx="1143000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48856" y="6057900"/>
            <a:ext cx="4782312" cy="2971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Faithfulness, relevance, precision/recall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INFRASTRUCTURE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18413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Managed AWS services here hold metadata, cache, and cluster control — never raw regulated document 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1183112" cy="365760"/>
          </a:xfrm>
          <a:prstGeom prst="roundRect">
            <a:avLst>
              <a:gd name="adj" fmla="val 35000"/>
            </a:avLst>
          </a:prstGeom>
          <a:solidFill>
            <a:srgbClr val="B59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08760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9776" y="150876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2976" y="1508760"/>
            <a:ext cx="1143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License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8856" y="1508760"/>
            <a:ext cx="47823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Why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11095"/>
            <a:ext cx="11183112" cy="310896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911095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Cloud 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9776" y="1911095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AWS (EKS, S3, RDS, ElastiCache, KMS)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1911095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Commercial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8856" y="1911095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Regions in all 3 markets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21991"/>
            <a:ext cx="11183112" cy="3108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221991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Container 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9776" y="2221991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Kubernetes (EKS) + Helm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2976" y="2221991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8856" y="2221991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Per-region cluster isolation (INFRA-1.1)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32887"/>
            <a:ext cx="11183112" cy="310896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532887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Node/pod autoscaling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9776" y="2532887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Karpenter + KEDA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2976" y="2532887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8856" y="2532887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GPU-aware, queue-depth-based 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843783"/>
            <a:ext cx="11183112" cy="3108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2843783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Service mesh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9776" y="2843783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Istio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6" y="2843783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8856" y="2843783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mTLS + network policy for SEC-3.1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154679"/>
            <a:ext cx="11183112" cy="310896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3154679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Relational 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9776" y="3154679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PostgreSQL (Amazon RDS)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2976" y="3154679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PostgreSQL / managed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48856" y="3154679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Metadata &amp; audit only, no document text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465575"/>
            <a:ext cx="11183112" cy="3108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" y="3465575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Cache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9776" y="3465575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Redis (Amazon ElastiCache)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2976" y="3465575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BSD / managed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48856" y="3465575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Session / response cache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776471"/>
            <a:ext cx="11183112" cy="310896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3776471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Metrics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9776" y="3776471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Prometheus + Grafana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22976" y="3776471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48856" y="3776471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Latency, GPU, cost (OBS-1.1)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087367"/>
            <a:ext cx="11183112" cy="3108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" y="4087367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LLM tracing / cost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79776" y="4087367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Langfuse (self-hosted)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087367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8856" y="4087367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Per-request trace (OBS-1.2)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398263"/>
            <a:ext cx="11183112" cy="310896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" y="4398263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API framework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79776" y="4398263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FastAPI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976" y="4398263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8856" y="4398263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REST endpoints for FR-1–FR-4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4709159"/>
            <a:ext cx="11183112" cy="3108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709159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Auth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79776" y="4709159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Keycloak (OIDC)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976" y="4709159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Apache 2.0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6" y="4709159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AuthN + RBAC (SEC-2.1)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2920" y="5020055"/>
            <a:ext cx="11183112" cy="310896"/>
          </a:xfrm>
          <a:prstGeom prst="roundRect">
            <a:avLst>
              <a:gd name="adj" fmla="val 0"/>
            </a:avLst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" y="5020055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IaC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79776" y="5020055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Terraform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22976" y="5020055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BUSL (source-available)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48856" y="5020055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Cluster / infra provisioning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330951"/>
            <a:ext cx="11183112" cy="310896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330951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CI/CD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9776" y="5330951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GitHub Actions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22976" y="5330951"/>
            <a:ext cx="1143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48856" y="5330951"/>
            <a:ext cx="4782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Build / test / deploy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KEY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THREE ARCHITECTURE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Full context, alternatives, and consequences in the written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3639312" cy="2743200"/>
          </a:xfrm>
          <a:prstGeom prst="roundRect">
            <a:avLst>
              <a:gd name="adj" fmla="val 9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6" y="1911095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ADR-001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441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Vector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889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Qdrant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47472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Native hybrid search + payload filters, self-hostable in-VPC. Considered: Weaviate, Milvus, pgvector.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691640"/>
            <a:ext cx="3639312" cy="2743200"/>
          </a:xfrm>
          <a:prstGeom prst="roundRect">
            <a:avLst>
              <a:gd name="adj" fmla="val 9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17720" y="1911095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ADR-002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41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Model Hosting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Self-hosted vLLM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47472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Only option that makes “no regulated data leaves the VPC” architectural, not procedural.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691640"/>
            <a:ext cx="3639312" cy="2743200"/>
          </a:xfrm>
          <a:prstGeom prst="roundRect">
            <a:avLst>
              <a:gd name="adj" fmla="val 9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3064" y="1911095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ADR-003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2441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Agent 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27889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LangGraph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3064" y="3474720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6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Bounded, checkpointed state graph — auditability over autonomy. Considered: CrewAI, AutoGen.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DESIGN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WHAT THE ASSIGNMENT EXPLICITLY WARNED AGAINST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Each concern is addressed structurally in this design, not just acknowledged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4206240" cy="1463040"/>
          </a:xfrm>
          <a:prstGeom prst="roundRect">
            <a:avLst>
              <a:gd name="adj" fmla="val 10000"/>
            </a:avLst>
          </a:prstGeom>
          <a:solidFill>
            <a:srgbClr val="E14F3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645920"/>
            <a:ext cx="3794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✕  Generic LangChain tutorial repackaged as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6793992" cy="1463040"/>
          </a:xfrm>
          <a:prstGeom prst="roundRect">
            <a:avLst>
              <a:gd name="adj" fmla="val 10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645920"/>
            <a:ext cx="63550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✓  LangChain used only for text-splitting utilities; retrieval (Qdrant), agent orchestration (LangGraph), guardrails, and serving (vLLM) are each purpose-fit.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4206240" cy="1463040"/>
          </a:xfrm>
          <a:prstGeom prst="roundRect">
            <a:avLst>
              <a:gd name="adj" fmla="val 10000"/>
            </a:avLst>
          </a:prstGeom>
          <a:solidFill>
            <a:srgbClr val="E14F3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310128"/>
            <a:ext cx="3794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✕  Over-reliance on a single LLM provider, no fallback or cost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2040" y="3310128"/>
            <a:ext cx="6793992" cy="1463040"/>
          </a:xfrm>
          <a:prstGeom prst="roundRect">
            <a:avLst>
              <a:gd name="adj" fmla="val 10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310128"/>
            <a:ext cx="63550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✓  Two-tier self-hosted models, explicit fallback chain + circuit breaker, token budgets + semantic caching.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74336"/>
            <a:ext cx="4206240" cy="1463040"/>
          </a:xfrm>
          <a:prstGeom prst="roundRect">
            <a:avLst>
              <a:gd name="adj" fmla="val 10000"/>
            </a:avLst>
          </a:prstGeom>
          <a:solidFill>
            <a:srgbClr val="E14F3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974336"/>
            <a:ext cx="3794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✕  Architectures that ignore data sovereignty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4974336"/>
            <a:ext cx="6793992" cy="1463040"/>
          </a:xfrm>
          <a:prstGeom prst="roundRect">
            <a:avLst>
              <a:gd name="adj" fmla="val 10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4974336"/>
            <a:ext cx="63550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✓  Region-pinned deployment (India / EU / US), zero-egress inference namespace enforced at the network layer.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8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spc="20">
                <a:solidFill>
                  <a:srgbClr val="0A0A0A"/>
                </a:solidFill>
                <a:latin typeface="Poppins"/>
                <a:ea typeface="Poppins"/>
                <a:cs typeface="Poppins"/>
              </a:rPr>
              <a:t>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841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Development begins only after this plan, tech stack, and feature list are confirmed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121408" cy="2606040"/>
          </a:xfrm>
          <a:prstGeom prst="roundRect">
            <a:avLst>
              <a:gd name="adj" fmla="val 10000"/>
            </a:avLst>
          </a:prstGeom>
          <a:solidFill>
            <a:srgbClr val="FFC872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487168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Requirements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273552"/>
            <a:ext cx="17922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Micro-requirements, ADRs, tech stack, solution deck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828800"/>
            <a:ext cx="2121408" cy="2606040"/>
          </a:xfrm>
          <a:prstGeom prst="roundRect">
            <a:avLst>
              <a:gd name="adj" fmla="val 10000"/>
            </a:avLst>
          </a:prstGeom>
          <a:solidFill>
            <a:srgbClr val="1FD1F9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201168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487168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RAG Pipeline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273552"/>
            <a:ext cx="17922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Ingest 5+ docs, hybrid search, re-ranking, citations (2A)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1828800"/>
            <a:ext cx="2121408" cy="2606040"/>
          </a:xfrm>
          <a:prstGeom prst="roundRect">
            <a:avLst>
              <a:gd name="adj" fmla="val 10000"/>
            </a:avLst>
          </a:prstGeom>
          <a:solidFill>
            <a:srgbClr val="B591FB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76088" y="201168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487168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Agentic Compliance 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8" y="3273552"/>
            <a:ext cx="17922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LangGraph agent, structured risk assessment (2B)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15784" y="1828800"/>
            <a:ext cx="2121408" cy="2606040"/>
          </a:xfrm>
          <a:prstGeom prst="roundRect">
            <a:avLst>
              <a:gd name="adj" fmla="val 10000"/>
            </a:avLst>
          </a:prstGeom>
          <a:solidFill>
            <a:srgbClr val="E3ED8D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0376" y="201168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487168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Evaluation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0376" y="3273552"/>
            <a:ext cx="17922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15–20 QA ground-truth set, RAGAS scoring, failure analysis (2C)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0072" y="1828800"/>
            <a:ext cx="2121408" cy="2606040"/>
          </a:xfrm>
          <a:prstGeom prst="roundRect">
            <a:avLst>
              <a:gd name="adj" fmla="val 10000"/>
            </a:avLst>
          </a:prstGeom>
          <a:solidFill>
            <a:srgbClr val="FD9A71"/>
          </a:solidFill>
          <a:ln>
            <a:noFill/>
          </a:ln>
          <a:effectLst>
            <a:outerShdw blurRad="90000" dist="38000" dir="5400000" rotWithShape="0">
              <a:srgbClr val="1C1C1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84664" y="201168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PHASE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4664" y="2487168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Production Hardening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4664" y="3273552"/>
            <a:ext cx="17922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40" b="0" i="0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Multi-region rollout, cost optimization, HA (beyond scope)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3A3A3C"/>
                </a:solidFill>
                <a:latin typeface="Poppins"/>
                <a:ea typeface="Poppins"/>
                <a:cs typeface="Poppins"/>
              </a:rPr>
              <a:t>Next: confirm the plan, technology stack, and feature list above — then Phase 1 begins.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FinServ Global · AI Regulatory Compliance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05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9A9AA0"/>
                </a:solidFill>
                <a:latin typeface="Poppins"/>
                <a:ea typeface="Poppins"/>
                <a:cs typeface="Poppins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